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319" r:id="rId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8" d="100"/>
          <a:sy n="88" d="100"/>
        </p:scale>
        <p:origin x="102" y="72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44CB26-432A-4C6A-8431-ABC6DBE2852A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8AF2E5-C9DA-4340-831F-C3D1481444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3011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chemeClr val="bg1"/>
                </a:solidFill>
                <a:latin typeface="맑은 고딕"/>
                <a:cs typeface="맑은 고딕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FAAD80-7FD8-4350-8F1F-1DCF7196CD68}" type="datetime1">
              <a:rPr lang="en-US" altLang="ko-KR" smtClean="0"/>
              <a:t>12/11/2025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맑은 고딕"/>
                <a:cs typeface="맑은 고딕"/>
              </a:defRPr>
            </a:lvl1pPr>
          </a:lstStyle>
          <a:p>
            <a:pPr marL="233045">
              <a:lnSpc>
                <a:spcPct val="100000"/>
              </a:lnSpc>
              <a:spcBef>
                <a:spcPts val="225"/>
              </a:spcBef>
            </a:pPr>
            <a:fld id="{81D60167-4931-47E6-BA6A-407CBD079E47}" type="slidenum">
              <a:rPr spc="-50"/>
              <a:t>‹#›</a:t>
            </a:fld>
            <a:endParaRPr spc="-5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bg1"/>
                </a:solidFill>
                <a:latin typeface="맑은 고딕"/>
                <a:cs typeface="맑은 고딕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6C62F6-BF0C-47A8-BC07-F26A70E06B9E}" type="datetime1">
              <a:rPr lang="en-US" altLang="ko-KR" smtClean="0"/>
              <a:t>12/11/2025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맑은 고딕"/>
                <a:cs typeface="맑은 고딕"/>
              </a:defRPr>
            </a:lvl1pPr>
          </a:lstStyle>
          <a:p>
            <a:pPr marL="233045">
              <a:lnSpc>
                <a:spcPct val="100000"/>
              </a:lnSpc>
              <a:spcBef>
                <a:spcPts val="225"/>
              </a:spcBef>
            </a:pPr>
            <a:fld id="{81D60167-4931-47E6-BA6A-407CBD079E47}" type="slidenum">
              <a:rPr spc="-50"/>
              <a:t>‹#›</a:t>
            </a:fld>
            <a:endParaRPr spc="-5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bg1"/>
                </a:solidFill>
                <a:latin typeface="맑은 고딕"/>
                <a:cs typeface="맑은 고딕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1368" y="1993214"/>
            <a:ext cx="4938395" cy="4302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맑은 고딕"/>
                <a:cs typeface="맑은 고딕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675246" y="1993214"/>
            <a:ext cx="5029834" cy="39363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맑은 고딕"/>
                <a:cs typeface="맑은 고딕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183BDD-2EE5-4ED0-8B7F-50D404BEFB66}" type="datetime1">
              <a:rPr lang="en-US" altLang="ko-KR" smtClean="0"/>
              <a:t>12/11/2025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맑은 고딕"/>
                <a:cs typeface="맑은 고딕"/>
              </a:defRPr>
            </a:lvl1pPr>
          </a:lstStyle>
          <a:p>
            <a:pPr marL="233045">
              <a:lnSpc>
                <a:spcPct val="100000"/>
              </a:lnSpc>
              <a:spcBef>
                <a:spcPts val="225"/>
              </a:spcBef>
            </a:pPr>
            <a:fld id="{81D60167-4931-47E6-BA6A-407CBD079E47}" type="slidenum">
              <a:rPr spc="-50"/>
              <a:t>‹#›</a:t>
            </a:fld>
            <a:endParaRPr spc="-5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175" y="0"/>
            <a:ext cx="4378325" cy="6858000"/>
          </a:xfrm>
          <a:custGeom>
            <a:avLst/>
            <a:gdLst/>
            <a:ahLst/>
            <a:cxnLst/>
            <a:rect l="l" t="t" r="r" b="b"/>
            <a:pathLst>
              <a:path w="4378325" h="6858000">
                <a:moveTo>
                  <a:pt x="4378325" y="0"/>
                </a:moveTo>
                <a:lnTo>
                  <a:pt x="0" y="0"/>
                </a:lnTo>
                <a:lnTo>
                  <a:pt x="0" y="6858000"/>
                </a:lnTo>
                <a:lnTo>
                  <a:pt x="4378325" y="6858000"/>
                </a:lnTo>
                <a:lnTo>
                  <a:pt x="4378325" y="0"/>
                </a:lnTo>
                <a:close/>
              </a:path>
            </a:pathLst>
          </a:custGeom>
          <a:solidFill>
            <a:srgbClr val="D9D9D9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447800" y="2780919"/>
            <a:ext cx="9448799" cy="1296035"/>
          </a:xfrm>
          <a:custGeom>
            <a:avLst/>
            <a:gdLst/>
            <a:ahLst/>
            <a:cxnLst/>
            <a:rect l="l" t="t" r="r" b="b"/>
            <a:pathLst>
              <a:path w="7920355" h="1296035">
                <a:moveTo>
                  <a:pt x="7919973" y="0"/>
                </a:moveTo>
                <a:lnTo>
                  <a:pt x="0" y="0"/>
                </a:lnTo>
                <a:lnTo>
                  <a:pt x="0" y="1296034"/>
                </a:lnTo>
                <a:lnTo>
                  <a:pt x="7919973" y="1296034"/>
                </a:lnTo>
                <a:lnTo>
                  <a:pt x="7919973" y="0"/>
                </a:lnTo>
                <a:close/>
              </a:path>
            </a:pathLst>
          </a:custGeom>
          <a:solidFill>
            <a:srgbClr val="2543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bg1"/>
                </a:solidFill>
                <a:latin typeface="맑은 고딕"/>
                <a:cs typeface="맑은 고딕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5ED1C7-FC77-4F27-9C53-70967D48D580}" type="datetime1">
              <a:rPr lang="en-US" altLang="ko-KR" smtClean="0"/>
              <a:t>12/11/2025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맑은 고딕"/>
                <a:cs typeface="맑은 고딕"/>
              </a:defRPr>
            </a:lvl1pPr>
          </a:lstStyle>
          <a:p>
            <a:pPr marL="233045">
              <a:lnSpc>
                <a:spcPct val="100000"/>
              </a:lnSpc>
              <a:spcBef>
                <a:spcPts val="225"/>
              </a:spcBef>
            </a:pPr>
            <a:fld id="{81D60167-4931-47E6-BA6A-407CBD079E47}" type="slidenum">
              <a:rPr spc="-50"/>
              <a:t>‹#›</a:t>
            </a:fld>
            <a:endParaRPr spc="-5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3270DE-2E20-4FA1-AFE6-8C607FB0F438}" type="datetime1">
              <a:rPr lang="en-US" altLang="ko-KR" smtClean="0"/>
              <a:t>12/11/2025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맑은 고딕"/>
                <a:cs typeface="맑은 고딕"/>
              </a:defRPr>
            </a:lvl1pPr>
          </a:lstStyle>
          <a:p>
            <a:pPr marL="233045">
              <a:lnSpc>
                <a:spcPct val="100000"/>
              </a:lnSpc>
              <a:spcBef>
                <a:spcPts val="225"/>
              </a:spcBef>
            </a:pPr>
            <a:fld id="{81D60167-4931-47E6-BA6A-407CBD079E47}" type="slidenum">
              <a:rPr spc="-50"/>
              <a:t>‹#›</a:t>
            </a:fld>
            <a:endParaRPr spc="-5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-50"/>
            <a:ext cx="12193270" cy="576580"/>
          </a:xfrm>
          <a:custGeom>
            <a:avLst/>
            <a:gdLst/>
            <a:ahLst/>
            <a:cxnLst/>
            <a:rect l="l" t="t" r="r" b="b"/>
            <a:pathLst>
              <a:path w="12193270" h="576580">
                <a:moveTo>
                  <a:pt x="12193143" y="0"/>
                </a:moveTo>
                <a:lnTo>
                  <a:pt x="0" y="0"/>
                </a:lnTo>
                <a:lnTo>
                  <a:pt x="0" y="575995"/>
                </a:lnTo>
                <a:lnTo>
                  <a:pt x="12193143" y="575995"/>
                </a:lnTo>
                <a:lnTo>
                  <a:pt x="12193143" y="0"/>
                </a:lnTo>
                <a:close/>
              </a:path>
            </a:pathLst>
          </a:custGeom>
          <a:solidFill>
            <a:srgbClr val="254378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59892" y="222504"/>
            <a:ext cx="107988" cy="10807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1368" y="119888"/>
            <a:ext cx="3485515" cy="2997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chemeClr val="bg1"/>
                </a:solidFill>
                <a:latin typeface="맑은 고딕"/>
                <a:cs typeface="맑은 고딕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35838" y="2404895"/>
            <a:ext cx="5530850" cy="1739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50E7E4-85E0-4E5D-BF54-7B047B12656F}" type="datetime1">
              <a:rPr lang="en-US" altLang="ko-KR" smtClean="0"/>
              <a:t>12/11/2025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669014" y="6334092"/>
            <a:ext cx="481965" cy="4102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맑은 고딕"/>
                <a:cs typeface="맑은 고딕"/>
              </a:defRPr>
            </a:lvl1pPr>
          </a:lstStyle>
          <a:p>
            <a:pPr marL="233045">
              <a:lnSpc>
                <a:spcPct val="100000"/>
              </a:lnSpc>
              <a:spcBef>
                <a:spcPts val="225"/>
              </a:spcBef>
            </a:pPr>
            <a:fld id="{81D60167-4931-47E6-BA6A-407CBD079E47}" type="slidenum">
              <a:rPr spc="-50"/>
              <a:t>‹#›</a:t>
            </a:fld>
            <a:endParaRPr spc="-5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hyperlink" Target="http://data.seoul.go.kr/" TargetMode="External"/><Relationship Id="rId18" Type="http://schemas.openxmlformats.org/officeDocument/2006/relationships/hyperlink" Target="http://developer.auction.co.kr/" TargetMode="External"/><Relationship Id="rId26" Type="http://schemas.openxmlformats.org/officeDocument/2006/relationships/hyperlink" Target="http://api.dbpia.co.kr/openApi/about/intro.do" TargetMode="External"/><Relationship Id="rId39" Type="http://schemas.openxmlformats.org/officeDocument/2006/relationships/hyperlink" Target="http://www.khoa.go.kr/oceanmap/apiguide/html/chapter01.html" TargetMode="External"/><Relationship Id="rId21" Type="http://schemas.openxmlformats.org/officeDocument/2006/relationships/hyperlink" Target="https://www.career.go.kr/cnet/front/openapi/openApiMainCenter.do" TargetMode="External"/><Relationship Id="rId34" Type="http://schemas.openxmlformats.org/officeDocument/2006/relationships/hyperlink" Target="http://www.cha.go.kr/html/HtmlPage.do?pg=/publicinfo/pbinfo3_0101.jsp&amp;amp;mn=NS_04_04_02" TargetMode="External"/><Relationship Id="rId42" Type="http://schemas.openxmlformats.org/officeDocument/2006/relationships/hyperlink" Target="https://data.kma.go.kr/api/selectApiList.do?pgmNo=42" TargetMode="External"/><Relationship Id="rId47" Type="http://schemas.openxmlformats.org/officeDocument/2006/relationships/hyperlink" Target="https://www.google.com/publicdata/directory" TargetMode="External"/><Relationship Id="rId50" Type="http://schemas.openxmlformats.org/officeDocument/2006/relationships/hyperlink" Target="https://www.who.int/gho/database/en/" TargetMode="External"/><Relationship Id="rId55" Type="http://schemas.openxmlformats.org/officeDocument/2006/relationships/hyperlink" Target="https://www.ncdc.noaa.gov/data-access" TargetMode="External"/><Relationship Id="rId63" Type="http://schemas.openxmlformats.org/officeDocument/2006/relationships/hyperlink" Target="http://open-data.europa.eu/en/data/" TargetMode="External"/><Relationship Id="rId68" Type="http://schemas.openxmlformats.org/officeDocument/2006/relationships/hyperlink" Target="https://www.yelp.com/dataset" TargetMode="External"/><Relationship Id="rId76" Type="http://schemas.openxmlformats.org/officeDocument/2006/relationships/hyperlink" Target="http://omdbapi.com/" TargetMode="External"/><Relationship Id="rId84" Type="http://schemas.openxmlformats.org/officeDocument/2006/relationships/hyperlink" Target="https://rapidapi.com/" TargetMode="External"/><Relationship Id="rId89" Type="http://schemas.openxmlformats.org/officeDocument/2006/relationships/hyperlink" Target="https://www.programmableweb.com/" TargetMode="External"/><Relationship Id="rId7" Type="http://schemas.openxmlformats.org/officeDocument/2006/relationships/hyperlink" Target="https://www.hira.or.kr/dummy.do?pgmid=HIRAA070001000430" TargetMode="External"/><Relationship Id="rId71" Type="http://schemas.openxmlformats.org/officeDocument/2006/relationships/hyperlink" Target="https://lodum.de/" TargetMode="External"/><Relationship Id="rId2" Type="http://schemas.openxmlformats.org/officeDocument/2006/relationships/hyperlink" Target="https://www.data.go.kr/" TargetMode="External"/><Relationship Id="rId16" Type="http://schemas.openxmlformats.org/officeDocument/2006/relationships/hyperlink" Target="http://biz.koscom.co.kr/cmm/intro/introSvcApi.do;jsessionid=714F81ED803B4F09931811E3F8567761" TargetMode="External"/><Relationship Id="rId29" Type="http://schemas.openxmlformats.org/officeDocument/2006/relationships/hyperlink" Target="https://developers.naver.com/main/" TargetMode="External"/><Relationship Id="rId11" Type="http://schemas.openxmlformats.org/officeDocument/2006/relationships/hyperlink" Target="http://aiopen.etri.re.kr/" TargetMode="External"/><Relationship Id="rId24" Type="http://schemas.openxmlformats.org/officeDocument/2006/relationships/hyperlink" Target="https://github.com/teampopong" TargetMode="External"/><Relationship Id="rId32" Type="http://schemas.openxmlformats.org/officeDocument/2006/relationships/hyperlink" Target="https://www.kmdb.or.kr/info/api/apiList?menuIndex" TargetMode="External"/><Relationship Id="rId37" Type="http://schemas.openxmlformats.org/officeDocument/2006/relationships/hyperlink" Target="https://api.ip-navi.or.kr/openapi/devguide/introApi" TargetMode="External"/><Relationship Id="rId40" Type="http://schemas.openxmlformats.org/officeDocument/2006/relationships/hyperlink" Target="http://data.gm.go.kr/portal/mainPage.do;jsessionid=7F81A5820FC8CBA70FC7FF8FF1D54698" TargetMode="External"/><Relationship Id="rId45" Type="http://schemas.openxmlformats.org/officeDocument/2006/relationships/hyperlink" Target="https://sminfo.mss.go.kr/cm/sv/CSV001R0.do" TargetMode="External"/><Relationship Id="rId53" Type="http://schemas.openxmlformats.org/officeDocument/2006/relationships/hyperlink" Target="https://www.altmetric.com/top100/2018/" TargetMode="External"/><Relationship Id="rId58" Type="http://schemas.openxmlformats.org/officeDocument/2006/relationships/hyperlink" Target="https://www.pewinternet.org/datasets/?_fsi=BqJ6IiI5" TargetMode="External"/><Relationship Id="rId66" Type="http://schemas.openxmlformats.org/officeDocument/2006/relationships/hyperlink" Target="https://wiki.dbpedia.org/" TargetMode="External"/><Relationship Id="rId74" Type="http://schemas.openxmlformats.org/officeDocument/2006/relationships/hyperlink" Target="https://project-open-data.cio.gov/" TargetMode="External"/><Relationship Id="rId79" Type="http://schemas.openxmlformats.org/officeDocument/2006/relationships/hyperlink" Target="https://guides.service.gov.au/" TargetMode="External"/><Relationship Id="rId87" Type="http://schemas.openxmlformats.org/officeDocument/2006/relationships/hyperlink" Target="https://docs.aws.amazon.com/AWSECommerceService/latest/DG/ItemSearch.html" TargetMode="External"/><Relationship Id="rId5" Type="http://schemas.openxmlformats.org/officeDocument/2006/relationships/hyperlink" Target="https://www.apistore.co.kr/api/apiList.do" TargetMode="External"/><Relationship Id="rId61" Type="http://schemas.openxmlformats.org/officeDocument/2006/relationships/hyperlink" Target="https://grouplens.org/datasets/" TargetMode="External"/><Relationship Id="rId82" Type="http://schemas.openxmlformats.org/officeDocument/2006/relationships/hyperlink" Target="https://developer.twitter.com/en/docs/tweets/search/api-reference/get-search-tweets" TargetMode="External"/><Relationship Id="rId90" Type="http://schemas.openxmlformats.org/officeDocument/2006/relationships/hyperlink" Target="https://aws.amazon.com/marketplace/pp/Amazon-Web-Services-Alexa-Web-Information-Service/B07Q71HJ3H" TargetMode="External"/><Relationship Id="rId19" Type="http://schemas.openxmlformats.org/officeDocument/2006/relationships/hyperlink" Target="http://www.q-net.or.kr/cst012.do?id=cst01203&amp;amp;gSite=Q&amp;amp;gId" TargetMode="External"/><Relationship Id="rId14" Type="http://schemas.openxmlformats.org/officeDocument/2006/relationships/hyperlink" Target="http://www.localdata.kr/main.do" TargetMode="External"/><Relationship Id="rId22" Type="http://schemas.openxmlformats.org/officeDocument/2006/relationships/hyperlink" Target="https://www.open-platform.or.kr/apt/content/openapi?location=openApi1" TargetMode="External"/><Relationship Id="rId27" Type="http://schemas.openxmlformats.org/officeDocument/2006/relationships/hyperlink" Target="http://api.saramin.co.kr/documents/job-search-api" TargetMode="External"/><Relationship Id="rId30" Type="http://schemas.openxmlformats.org/officeDocument/2006/relationships/hyperlink" Target="https://www.kobis.or.kr/kobisopenapi/homepg/apiservice/searchServiceInfo.do" TargetMode="External"/><Relationship Id="rId35" Type="http://schemas.openxmlformats.org/officeDocument/2006/relationships/hyperlink" Target="http://www.gep.or.kr/overseas-exhibition/openapi/" TargetMode="External"/><Relationship Id="rId43" Type="http://schemas.openxmlformats.org/officeDocument/2006/relationships/hyperlink" Target="https://www.apistore.co.kr/generalApi/generalApiView.do?general_service_seq=63" TargetMode="External"/><Relationship Id="rId48" Type="http://schemas.openxmlformats.org/officeDocument/2006/relationships/hyperlink" Target="https://trends.google.com/trends/explore" TargetMode="External"/><Relationship Id="rId56" Type="http://schemas.openxmlformats.org/officeDocument/2006/relationships/hyperlink" Target="https://www.reddit.com/r/datasets" TargetMode="External"/><Relationship Id="rId64" Type="http://schemas.openxmlformats.org/officeDocument/2006/relationships/hyperlink" Target="https://data.fivethirtyeight.com/" TargetMode="External"/><Relationship Id="rId69" Type="http://schemas.openxmlformats.org/officeDocument/2006/relationships/hyperlink" Target="https://data.unicef.org/" TargetMode="External"/><Relationship Id="rId77" Type="http://schemas.openxmlformats.org/officeDocument/2006/relationships/hyperlink" Target="https://api.data.gov/" TargetMode="External"/><Relationship Id="rId8" Type="http://schemas.openxmlformats.org/officeDocument/2006/relationships/hyperlink" Target="http://data.nsdi.go.kr/dataset" TargetMode="External"/><Relationship Id="rId51" Type="http://schemas.openxmlformats.org/officeDocument/2006/relationships/hyperlink" Target="https://healthdata.gov/" TargetMode="External"/><Relationship Id="rId72" Type="http://schemas.openxmlformats.org/officeDocument/2006/relationships/hyperlink" Target="https://archive.ics.uci.edu/ml/index.php" TargetMode="External"/><Relationship Id="rId80" Type="http://schemas.openxmlformats.org/officeDocument/2006/relationships/hyperlink" Target="https://apidocs.data.world/" TargetMode="External"/><Relationship Id="rId85" Type="http://schemas.openxmlformats.org/officeDocument/2006/relationships/hyperlink" Target="http://eventregistry.org/" TargetMode="External"/><Relationship Id="rId3" Type="http://schemas.openxmlformats.org/officeDocument/2006/relationships/hyperlink" Target="http://www.index.go.kr/" TargetMode="External"/><Relationship Id="rId12" Type="http://schemas.openxmlformats.org/officeDocument/2006/relationships/hyperlink" Target="http://www.kogl.or.kr/index.do" TargetMode="External"/><Relationship Id="rId17" Type="http://schemas.openxmlformats.org/officeDocument/2006/relationships/hyperlink" Target="http://www.safemap.go.kr/dvct/openAPI.do" TargetMode="External"/><Relationship Id="rId25" Type="http://schemas.openxmlformats.org/officeDocument/2006/relationships/hyperlink" Target="https://www.datastore.or.kr/" TargetMode="External"/><Relationship Id="rId33" Type="http://schemas.openxmlformats.org/officeDocument/2006/relationships/hyperlink" Target="https://www.si.re.kr/openapi" TargetMode="External"/><Relationship Id="rId38" Type="http://schemas.openxmlformats.org/officeDocument/2006/relationships/hyperlink" Target="http://open.eais.go.kr/" TargetMode="External"/><Relationship Id="rId46" Type="http://schemas.openxmlformats.org/officeDocument/2006/relationships/hyperlink" Target="https://www.coocon.net/" TargetMode="External"/><Relationship Id="rId59" Type="http://schemas.openxmlformats.org/officeDocument/2006/relationships/hyperlink" Target="https://www.cdc.gov/datastatistics/index.html" TargetMode="External"/><Relationship Id="rId67" Type="http://schemas.openxmlformats.org/officeDocument/2006/relationships/hyperlink" Target="https://github.com/freeCodeCamp/open-data" TargetMode="External"/><Relationship Id="rId20" Type="http://schemas.openxmlformats.org/officeDocument/2006/relationships/hyperlink" Target="https://opendart.fss.or.kr/intro/main.do" TargetMode="External"/><Relationship Id="rId41" Type="http://schemas.openxmlformats.org/officeDocument/2006/relationships/hyperlink" Target="http://openapi.its.go.kr/" TargetMode="External"/><Relationship Id="rId54" Type="http://schemas.openxmlformats.org/officeDocument/2006/relationships/hyperlink" Target="https://opencorporates.com/" TargetMode="External"/><Relationship Id="rId62" Type="http://schemas.openxmlformats.org/officeDocument/2006/relationships/hyperlink" Target="https://registry.opendata.aws/" TargetMode="External"/><Relationship Id="rId70" Type="http://schemas.openxmlformats.org/officeDocument/2006/relationships/hyperlink" Target="https://www.kaggle.com/datasets" TargetMode="External"/><Relationship Id="rId75" Type="http://schemas.openxmlformats.org/officeDocument/2006/relationships/hyperlink" Target="https://www.themoviedb.org/documentation/api" TargetMode="External"/><Relationship Id="rId83" Type="http://schemas.openxmlformats.org/officeDocument/2006/relationships/hyperlink" Target="https://data.gov.in/" TargetMode="External"/><Relationship Id="rId88" Type="http://schemas.openxmlformats.org/officeDocument/2006/relationships/hyperlink" Target="https://docs.aws.amazon.com/ko_kr/AWSECommerceService/latest/DG/FindingItems.html" TargetMode="External"/><Relationship Id="rId91" Type="http://schemas.openxmlformats.org/officeDocument/2006/relationships/hyperlink" Target="https://ahrefs.com/api/documentation" TargetMode="External"/><Relationship Id="rId1" Type="http://schemas.openxmlformats.org/officeDocument/2006/relationships/slideLayout" Target="../slideLayouts/slideLayout3.xml"/><Relationship Id="rId6" Type="http://schemas.openxmlformats.org/officeDocument/2006/relationships/hyperlink" Target="http://discuss.datahub.kr/" TargetMode="External"/><Relationship Id="rId15" Type="http://schemas.openxmlformats.org/officeDocument/2006/relationships/hyperlink" Target="https://www.smartfarmkorea.net/front/open/list.do?menuId=M01060201" TargetMode="External"/><Relationship Id="rId23" Type="http://schemas.openxmlformats.org/officeDocument/2006/relationships/hyperlink" Target="http://data.popong.com/" TargetMode="External"/><Relationship Id="rId28" Type="http://schemas.openxmlformats.org/officeDocument/2006/relationships/hyperlink" Target="https://developers.kakao.com/" TargetMode="External"/><Relationship Id="rId36" Type="http://schemas.openxmlformats.org/officeDocument/2006/relationships/hyperlink" Target="https://opendata.hira.or.kr/op/opc/selectOpnsApiList.do" TargetMode="External"/><Relationship Id="rId49" Type="http://schemas.openxmlformats.org/officeDocument/2006/relationships/hyperlink" Target="https://data.worldbank.org/" TargetMode="External"/><Relationship Id="rId57" Type="http://schemas.openxmlformats.org/officeDocument/2006/relationships/hyperlink" Target="https://earthdata.nasa.gov/?_fsi=BqJ6IiI5" TargetMode="External"/><Relationship Id="rId10" Type="http://schemas.openxmlformats.org/officeDocument/2006/relationships/hyperlink" Target="http://www.vworld.kr/dev/v4api.do" TargetMode="External"/><Relationship Id="rId31" Type="http://schemas.openxmlformats.org/officeDocument/2006/relationships/hyperlink" Target="https://www.culture.go.kr/data/openapi/openapiInfo.do" TargetMode="External"/><Relationship Id="rId44" Type="http://schemas.openxmlformats.org/officeDocument/2006/relationships/hyperlink" Target="http://datakorea.datastore.or.kr/" TargetMode="External"/><Relationship Id="rId52" Type="http://schemas.openxmlformats.org/officeDocument/2006/relationships/hyperlink" Target="https://www.cia.gov/library/publications/the-world-factbook/" TargetMode="External"/><Relationship Id="rId60" Type="http://schemas.openxmlformats.org/officeDocument/2006/relationships/hyperlink" Target="https://www.bls.gov/data/" TargetMode="External"/><Relationship Id="rId65" Type="http://schemas.openxmlformats.org/officeDocument/2006/relationships/hyperlink" Target="http://www.census.gov/data.html" TargetMode="External"/><Relationship Id="rId73" Type="http://schemas.openxmlformats.org/officeDocument/2006/relationships/hyperlink" Target="https://dataportals.org/search" TargetMode="External"/><Relationship Id="rId78" Type="http://schemas.openxmlformats.org/officeDocument/2006/relationships/hyperlink" Target="https://www.gov.uk/service-manual/technology/application-programming-interfaces-apis" TargetMode="External"/><Relationship Id="rId81" Type="http://schemas.openxmlformats.org/officeDocument/2006/relationships/hyperlink" Target="https://datahub.io/search" TargetMode="External"/><Relationship Id="rId86" Type="http://schemas.openxmlformats.org/officeDocument/2006/relationships/hyperlink" Target="https://docs.aws.amazon.com/AWSECommerceService/latest/DG/TopSellers.html" TargetMode="External"/><Relationship Id="rId4" Type="http://schemas.openxmlformats.org/officeDocument/2006/relationships/hyperlink" Target="http://kosis.kr/search/search.do" TargetMode="External"/><Relationship Id="rId9" Type="http://schemas.openxmlformats.org/officeDocument/2006/relationships/hyperlink" Target="http://ecos.bok.or.kr/jsp/openapi/OpenApiController.jsp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91950" y="6496913"/>
            <a:ext cx="220979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>
                <a:latin typeface="맑은 고딕"/>
                <a:cs typeface="맑은 고딕"/>
              </a:rPr>
              <a:t>64</a:t>
            </a:r>
            <a:endParaRPr sz="1400">
              <a:latin typeface="맑은 고딕"/>
              <a:cs typeface="맑은 고딕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9331" y="702690"/>
            <a:ext cx="4532630" cy="5528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5110" indent="-229235">
              <a:lnSpc>
                <a:spcPct val="100000"/>
              </a:lnSpc>
              <a:spcBef>
                <a:spcPts val="100"/>
              </a:spcBef>
              <a:buClr>
                <a:srgbClr val="1F3863"/>
              </a:buClr>
              <a:buSzPct val="119444"/>
              <a:buFont typeface="Arial"/>
              <a:buChar char="•"/>
              <a:tabLst>
                <a:tab pos="245110" algn="l"/>
              </a:tabLst>
            </a:pPr>
            <a:r>
              <a:rPr sz="1800">
                <a:solidFill>
                  <a:srgbClr val="254378"/>
                </a:solidFill>
                <a:latin typeface="맑은 고딕"/>
                <a:cs typeface="맑은 고딕"/>
              </a:rPr>
              <a:t>오픈데이터,</a:t>
            </a:r>
            <a:r>
              <a:rPr sz="1800" spc="-5">
                <a:solidFill>
                  <a:srgbClr val="254378"/>
                </a:solidFill>
                <a:latin typeface="맑은 고딕"/>
                <a:cs typeface="맑은 고딕"/>
              </a:rPr>
              <a:t> </a:t>
            </a:r>
            <a:r>
              <a:rPr sz="1800" spc="-10">
                <a:solidFill>
                  <a:srgbClr val="254378"/>
                </a:solidFill>
                <a:latin typeface="맑은 고딕"/>
                <a:cs typeface="맑은 고딕"/>
              </a:rPr>
              <a:t>오픈API</a:t>
            </a:r>
            <a:endParaRPr sz="1800">
              <a:latin typeface="맑은 고딕"/>
              <a:cs typeface="맑은 고딕"/>
            </a:endParaRPr>
          </a:p>
          <a:p>
            <a:pPr marL="60325" indent="-47625">
              <a:lnSpc>
                <a:spcPct val="100000"/>
              </a:lnSpc>
              <a:spcBef>
                <a:spcPts val="720"/>
              </a:spcBef>
              <a:buFont typeface="Calibri"/>
              <a:buChar char="-"/>
              <a:tabLst>
                <a:tab pos="60325" algn="l"/>
              </a:tabLst>
            </a:pPr>
            <a:r>
              <a:rPr sz="700" spc="-10">
                <a:solidFill>
                  <a:srgbClr val="383838"/>
                </a:solidFill>
                <a:latin typeface="맑은 고딕"/>
                <a:cs typeface="맑은 고딕"/>
              </a:rPr>
              <a:t>공공데이터포털</a:t>
            </a:r>
            <a:r>
              <a:rPr sz="700" spc="-50">
                <a:solidFill>
                  <a:srgbClr val="383838"/>
                </a:solidFill>
                <a:latin typeface="맑은 고딕"/>
                <a:cs typeface="맑은 고딕"/>
              </a:rPr>
              <a:t> </a:t>
            </a:r>
            <a:r>
              <a:rPr sz="700">
                <a:solidFill>
                  <a:srgbClr val="383838"/>
                </a:solidFill>
                <a:latin typeface="Calibri"/>
                <a:cs typeface="Calibri"/>
              </a:rPr>
              <a:t>:</a:t>
            </a:r>
            <a:r>
              <a:rPr sz="700" spc="18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7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https://www.data.go.kr/</a:t>
            </a:r>
            <a:endParaRPr sz="700">
              <a:latin typeface="Calibri"/>
              <a:cs typeface="Calibri"/>
            </a:endParaRPr>
          </a:p>
          <a:p>
            <a:pPr marL="60325" indent="-47625">
              <a:lnSpc>
                <a:spcPct val="100000"/>
              </a:lnSpc>
              <a:buChar char="-"/>
              <a:tabLst>
                <a:tab pos="60325" algn="l"/>
              </a:tabLst>
            </a:pPr>
            <a:r>
              <a:rPr sz="700" spc="-10">
                <a:solidFill>
                  <a:srgbClr val="383838"/>
                </a:solidFill>
                <a:latin typeface="Calibri"/>
                <a:cs typeface="Calibri"/>
              </a:rPr>
              <a:t>e-</a:t>
            </a:r>
            <a:r>
              <a:rPr sz="700" spc="-10">
                <a:solidFill>
                  <a:srgbClr val="383838"/>
                </a:solidFill>
                <a:latin typeface="맑은 고딕"/>
                <a:cs typeface="맑은 고딕"/>
              </a:rPr>
              <a:t>나라지표</a:t>
            </a:r>
            <a:r>
              <a:rPr sz="700" spc="-60">
                <a:solidFill>
                  <a:srgbClr val="383838"/>
                </a:solidFill>
                <a:latin typeface="맑은 고딕"/>
                <a:cs typeface="맑은 고딕"/>
              </a:rPr>
              <a:t> </a:t>
            </a:r>
            <a:r>
              <a:rPr sz="700">
                <a:solidFill>
                  <a:srgbClr val="383838"/>
                </a:solidFill>
                <a:latin typeface="Calibri"/>
                <a:cs typeface="Calibri"/>
              </a:rPr>
              <a:t>:</a:t>
            </a:r>
            <a:r>
              <a:rPr sz="700" spc="1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700" spc="-10">
                <a:solidFill>
                  <a:srgbClr val="383838"/>
                </a:solidFill>
                <a:latin typeface="Calibri"/>
                <a:cs typeface="Calibri"/>
              </a:rPr>
              <a:t>http:/</a:t>
            </a:r>
            <a:r>
              <a:rPr sz="700" spc="-10">
                <a:solidFill>
                  <a:srgbClr val="383838"/>
                </a:solidFill>
                <a:latin typeface="Calibri"/>
                <a:cs typeface="Calibri"/>
                <a:hlinkClick r:id="rId3"/>
              </a:rPr>
              <a:t>www.index.go.kr</a:t>
            </a:r>
            <a:endParaRPr sz="700">
              <a:latin typeface="Calibri"/>
              <a:cs typeface="Calibri"/>
            </a:endParaRPr>
          </a:p>
          <a:p>
            <a:pPr marL="60325" indent="-47625">
              <a:lnSpc>
                <a:spcPct val="100000"/>
              </a:lnSpc>
              <a:buFont typeface="Calibri"/>
              <a:buChar char="-"/>
              <a:tabLst>
                <a:tab pos="60325" algn="l"/>
              </a:tabLst>
            </a:pPr>
            <a:r>
              <a:rPr sz="700" spc="-10">
                <a:solidFill>
                  <a:srgbClr val="383838"/>
                </a:solidFill>
                <a:latin typeface="맑은 고딕"/>
                <a:cs typeface="맑은 고딕"/>
              </a:rPr>
              <a:t>국가통계포털</a:t>
            </a:r>
            <a:r>
              <a:rPr sz="700" spc="-50">
                <a:solidFill>
                  <a:srgbClr val="383838"/>
                </a:solidFill>
                <a:latin typeface="맑은 고딕"/>
                <a:cs typeface="맑은 고딕"/>
              </a:rPr>
              <a:t> </a:t>
            </a:r>
            <a:r>
              <a:rPr sz="700">
                <a:solidFill>
                  <a:srgbClr val="383838"/>
                </a:solidFill>
                <a:latin typeface="Calibri"/>
                <a:cs typeface="Calibri"/>
              </a:rPr>
              <a:t>:</a:t>
            </a:r>
            <a:r>
              <a:rPr sz="700" spc="17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7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http://kosis.kr/search/search.do</a:t>
            </a:r>
            <a:endParaRPr sz="700">
              <a:latin typeface="Calibri"/>
              <a:cs typeface="Calibri"/>
            </a:endParaRPr>
          </a:p>
          <a:p>
            <a:pPr marL="60325" indent="-47625">
              <a:lnSpc>
                <a:spcPct val="100000"/>
              </a:lnSpc>
              <a:buChar char="-"/>
              <a:tabLst>
                <a:tab pos="60325" algn="l"/>
              </a:tabLst>
            </a:pPr>
            <a:r>
              <a:rPr sz="700">
                <a:solidFill>
                  <a:srgbClr val="383838"/>
                </a:solidFill>
                <a:latin typeface="Calibri"/>
                <a:cs typeface="Calibri"/>
              </a:rPr>
              <a:t>API </a:t>
            </a:r>
            <a:r>
              <a:rPr sz="700" spc="-10">
                <a:solidFill>
                  <a:srgbClr val="383838"/>
                </a:solidFill>
                <a:latin typeface="맑은 고딕"/>
                <a:cs typeface="맑은 고딕"/>
              </a:rPr>
              <a:t>스토어</a:t>
            </a:r>
            <a:r>
              <a:rPr sz="700" spc="-80">
                <a:solidFill>
                  <a:srgbClr val="383838"/>
                </a:solidFill>
                <a:latin typeface="맑은 고딕"/>
                <a:cs typeface="맑은 고딕"/>
              </a:rPr>
              <a:t> </a:t>
            </a:r>
            <a:r>
              <a:rPr sz="700">
                <a:solidFill>
                  <a:srgbClr val="383838"/>
                </a:solidFill>
                <a:latin typeface="Calibri"/>
                <a:cs typeface="Calibri"/>
              </a:rPr>
              <a:t>:</a:t>
            </a:r>
            <a:r>
              <a:rPr sz="700" spc="17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7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https://www.apistore.co.kr/api/apiList.do</a:t>
            </a:r>
            <a:endParaRPr sz="700">
              <a:latin typeface="Calibri"/>
              <a:cs typeface="Calibri"/>
            </a:endParaRPr>
          </a:p>
          <a:p>
            <a:pPr marL="60325" indent="-47625">
              <a:lnSpc>
                <a:spcPct val="100000"/>
              </a:lnSpc>
              <a:buFont typeface="Calibri"/>
              <a:buChar char="-"/>
              <a:tabLst>
                <a:tab pos="60325" algn="l"/>
              </a:tabLst>
            </a:pPr>
            <a:r>
              <a:rPr sz="700" spc="-10">
                <a:solidFill>
                  <a:srgbClr val="383838"/>
                </a:solidFill>
                <a:latin typeface="맑은 고딕"/>
                <a:cs typeface="맑은 고딕"/>
              </a:rPr>
              <a:t>데이터허브</a:t>
            </a:r>
            <a:r>
              <a:rPr sz="700" spc="-70">
                <a:solidFill>
                  <a:srgbClr val="383838"/>
                </a:solidFill>
                <a:latin typeface="맑은 고딕"/>
                <a:cs typeface="맑은 고딕"/>
              </a:rPr>
              <a:t> </a:t>
            </a:r>
            <a:r>
              <a:rPr sz="700">
                <a:solidFill>
                  <a:srgbClr val="383838"/>
                </a:solidFill>
                <a:latin typeface="Calibri"/>
                <a:cs typeface="Calibri"/>
              </a:rPr>
              <a:t>:</a:t>
            </a:r>
            <a:r>
              <a:rPr sz="700" spc="18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7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"/>
              </a:rPr>
              <a:t>http://discuss.datahub.kr/</a:t>
            </a:r>
            <a:endParaRPr sz="700">
              <a:latin typeface="Calibri"/>
              <a:cs typeface="Calibri"/>
            </a:endParaRPr>
          </a:p>
          <a:p>
            <a:pPr marL="59690" indent="-46990">
              <a:lnSpc>
                <a:spcPct val="100000"/>
              </a:lnSpc>
              <a:buFont typeface="Calibri"/>
              <a:buChar char="-"/>
              <a:tabLst>
                <a:tab pos="59690" algn="l"/>
              </a:tabLst>
            </a:pPr>
            <a:r>
              <a:rPr sz="700" spc="-20">
                <a:solidFill>
                  <a:srgbClr val="383838"/>
                </a:solidFill>
                <a:latin typeface="맑은 고딕"/>
                <a:cs typeface="맑은 고딕"/>
              </a:rPr>
              <a:t>건보심평원</a:t>
            </a:r>
            <a:r>
              <a:rPr sz="700" spc="-55">
                <a:solidFill>
                  <a:srgbClr val="383838"/>
                </a:solidFill>
                <a:latin typeface="맑은 고딕"/>
                <a:cs typeface="맑은 고딕"/>
              </a:rPr>
              <a:t> </a:t>
            </a:r>
            <a:r>
              <a:rPr sz="700">
                <a:solidFill>
                  <a:srgbClr val="383838"/>
                </a:solidFill>
                <a:latin typeface="Calibri"/>
                <a:cs typeface="Calibri"/>
              </a:rPr>
              <a:t>:</a:t>
            </a:r>
            <a:r>
              <a:rPr sz="700" spc="195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7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7"/>
              </a:rPr>
              <a:t>https://www.hira.or.kr/dummy.do?pgmid=HIRAA070001000430</a:t>
            </a:r>
            <a:endParaRPr sz="700">
              <a:latin typeface="Calibri"/>
              <a:cs typeface="Calibri"/>
            </a:endParaRPr>
          </a:p>
          <a:p>
            <a:pPr marL="60325" indent="-47625">
              <a:lnSpc>
                <a:spcPct val="100000"/>
              </a:lnSpc>
              <a:spcBef>
                <a:spcPts val="5"/>
              </a:spcBef>
              <a:buFont typeface="Calibri"/>
              <a:buChar char="-"/>
              <a:tabLst>
                <a:tab pos="60325" algn="l"/>
              </a:tabLst>
            </a:pPr>
            <a:r>
              <a:rPr sz="700" spc="-10">
                <a:solidFill>
                  <a:srgbClr val="383838"/>
                </a:solidFill>
                <a:latin typeface="맑은 고딕"/>
                <a:cs typeface="맑은 고딕"/>
              </a:rPr>
              <a:t>국가공간정보포털</a:t>
            </a:r>
            <a:r>
              <a:rPr sz="700" spc="-50">
                <a:solidFill>
                  <a:srgbClr val="383838"/>
                </a:solidFill>
                <a:latin typeface="맑은 고딕"/>
                <a:cs typeface="맑은 고딕"/>
              </a:rPr>
              <a:t> </a:t>
            </a:r>
            <a:r>
              <a:rPr sz="700">
                <a:solidFill>
                  <a:srgbClr val="383838"/>
                </a:solidFill>
                <a:latin typeface="Calibri"/>
                <a:cs typeface="Calibri"/>
              </a:rPr>
              <a:t>:</a:t>
            </a:r>
            <a:r>
              <a:rPr sz="700" spc="185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7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8"/>
              </a:rPr>
              <a:t>http://data.nsdi.go.kr/dataset</a:t>
            </a:r>
            <a:endParaRPr sz="700">
              <a:latin typeface="Calibri"/>
              <a:cs typeface="Calibri"/>
            </a:endParaRPr>
          </a:p>
          <a:p>
            <a:pPr marL="60325" indent="-47625">
              <a:lnSpc>
                <a:spcPct val="100000"/>
              </a:lnSpc>
              <a:buFont typeface="Calibri"/>
              <a:buChar char="-"/>
              <a:tabLst>
                <a:tab pos="60325" algn="l"/>
              </a:tabLst>
            </a:pPr>
            <a:r>
              <a:rPr sz="700" spc="-10">
                <a:solidFill>
                  <a:srgbClr val="383838"/>
                </a:solidFill>
                <a:latin typeface="맑은 고딕"/>
                <a:cs typeface="맑은 고딕"/>
              </a:rPr>
              <a:t>한국은행경제통계</a:t>
            </a:r>
            <a:r>
              <a:rPr sz="700" spc="-50">
                <a:solidFill>
                  <a:srgbClr val="383838"/>
                </a:solidFill>
                <a:latin typeface="맑은 고딕"/>
                <a:cs typeface="맑은 고딕"/>
              </a:rPr>
              <a:t> </a:t>
            </a:r>
            <a:r>
              <a:rPr sz="700">
                <a:solidFill>
                  <a:srgbClr val="383838"/>
                </a:solidFill>
                <a:latin typeface="Calibri"/>
                <a:cs typeface="Calibri"/>
              </a:rPr>
              <a:t>:</a:t>
            </a:r>
            <a:r>
              <a:rPr sz="700" spc="185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7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9"/>
              </a:rPr>
              <a:t>http://ecos.bok.or.kr/jsp/openapi/OpenApiController.jsp</a:t>
            </a:r>
            <a:endParaRPr sz="700">
              <a:latin typeface="Calibri"/>
              <a:cs typeface="Calibri"/>
            </a:endParaRPr>
          </a:p>
          <a:p>
            <a:pPr marL="60325" indent="-47625">
              <a:lnSpc>
                <a:spcPct val="100000"/>
              </a:lnSpc>
              <a:buFont typeface="Calibri"/>
              <a:buChar char="-"/>
              <a:tabLst>
                <a:tab pos="60325" algn="l"/>
              </a:tabLst>
            </a:pPr>
            <a:r>
              <a:rPr sz="700">
                <a:solidFill>
                  <a:srgbClr val="383838"/>
                </a:solidFill>
                <a:latin typeface="맑은 고딕"/>
                <a:cs typeface="맑은 고딕"/>
              </a:rPr>
              <a:t>지도</a:t>
            </a:r>
            <a:r>
              <a:rPr sz="700">
                <a:solidFill>
                  <a:srgbClr val="383838"/>
                </a:solidFill>
                <a:latin typeface="Calibri"/>
                <a:cs typeface="Calibri"/>
              </a:rPr>
              <a:t>API</a:t>
            </a:r>
            <a:r>
              <a:rPr sz="700" spc="-5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700">
                <a:solidFill>
                  <a:srgbClr val="383838"/>
                </a:solidFill>
                <a:latin typeface="Calibri"/>
                <a:cs typeface="Calibri"/>
              </a:rPr>
              <a:t>:</a:t>
            </a:r>
            <a:r>
              <a:rPr sz="700" spc="-5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7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0"/>
              </a:rPr>
              <a:t>http://www.vworld.kr/dev/v4api.do</a:t>
            </a:r>
            <a:endParaRPr sz="700">
              <a:latin typeface="Calibri"/>
              <a:cs typeface="Calibri"/>
            </a:endParaRPr>
          </a:p>
          <a:p>
            <a:pPr marL="60325" indent="-47625">
              <a:lnSpc>
                <a:spcPct val="100000"/>
              </a:lnSpc>
              <a:buFont typeface="Calibri"/>
              <a:buChar char="-"/>
              <a:tabLst>
                <a:tab pos="60325" algn="l"/>
              </a:tabLst>
            </a:pPr>
            <a:r>
              <a:rPr sz="700" spc="-10">
                <a:solidFill>
                  <a:srgbClr val="383838"/>
                </a:solidFill>
                <a:latin typeface="맑은 고딕"/>
                <a:cs typeface="맑은 고딕"/>
              </a:rPr>
              <a:t>전자바우처</a:t>
            </a:r>
            <a:r>
              <a:rPr sz="700" spc="-70">
                <a:solidFill>
                  <a:srgbClr val="383838"/>
                </a:solidFill>
                <a:latin typeface="맑은 고딕"/>
                <a:cs typeface="맑은 고딕"/>
              </a:rPr>
              <a:t> </a:t>
            </a:r>
            <a:r>
              <a:rPr sz="700">
                <a:solidFill>
                  <a:srgbClr val="383838"/>
                </a:solidFill>
                <a:latin typeface="Calibri"/>
                <a:cs typeface="Calibri"/>
              </a:rPr>
              <a:t>:</a:t>
            </a:r>
            <a:r>
              <a:rPr sz="700" spc="18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7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</a:rPr>
              <a:t>https://www.socialservice.or.kr:444/user/pubdata/open/openapi.do</a:t>
            </a:r>
            <a:endParaRPr sz="700">
              <a:latin typeface="Calibri"/>
              <a:cs typeface="Calibri"/>
            </a:endParaRPr>
          </a:p>
          <a:p>
            <a:pPr marL="60325" indent="-47625">
              <a:lnSpc>
                <a:spcPct val="100000"/>
              </a:lnSpc>
              <a:buFont typeface="Calibri"/>
              <a:buChar char="-"/>
              <a:tabLst>
                <a:tab pos="60325" algn="l"/>
              </a:tabLst>
            </a:pPr>
            <a:r>
              <a:rPr sz="700">
                <a:solidFill>
                  <a:srgbClr val="383838"/>
                </a:solidFill>
                <a:latin typeface="맑은 고딕"/>
                <a:cs typeface="맑은 고딕"/>
              </a:rPr>
              <a:t>인공지능</a:t>
            </a:r>
            <a:r>
              <a:rPr sz="700">
                <a:solidFill>
                  <a:srgbClr val="383838"/>
                </a:solidFill>
                <a:latin typeface="Calibri"/>
                <a:cs typeface="Calibri"/>
              </a:rPr>
              <a:t>API</a:t>
            </a:r>
            <a:r>
              <a:rPr sz="700" spc="-5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700">
                <a:solidFill>
                  <a:srgbClr val="383838"/>
                </a:solidFill>
                <a:latin typeface="Calibri"/>
                <a:cs typeface="Calibri"/>
              </a:rPr>
              <a:t>:</a:t>
            </a:r>
            <a:r>
              <a:rPr sz="700" spc="15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7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1"/>
              </a:rPr>
              <a:t>http://aiopen.etri.re.kr/</a:t>
            </a:r>
            <a:endParaRPr sz="700">
              <a:latin typeface="Calibri"/>
              <a:cs typeface="Calibri"/>
            </a:endParaRPr>
          </a:p>
          <a:p>
            <a:pPr marL="60325" indent="-47625">
              <a:lnSpc>
                <a:spcPct val="100000"/>
              </a:lnSpc>
              <a:buFont typeface="Calibri"/>
              <a:buChar char="-"/>
              <a:tabLst>
                <a:tab pos="60325" algn="l"/>
              </a:tabLst>
            </a:pPr>
            <a:r>
              <a:rPr sz="700" spc="-10">
                <a:solidFill>
                  <a:srgbClr val="383838"/>
                </a:solidFill>
                <a:latin typeface="맑은 고딕"/>
                <a:cs typeface="맑은 고딕"/>
              </a:rPr>
              <a:t>공공저작물</a:t>
            </a:r>
            <a:r>
              <a:rPr sz="700" spc="-70">
                <a:solidFill>
                  <a:srgbClr val="383838"/>
                </a:solidFill>
                <a:latin typeface="맑은 고딕"/>
                <a:cs typeface="맑은 고딕"/>
              </a:rPr>
              <a:t> </a:t>
            </a:r>
            <a:r>
              <a:rPr sz="700">
                <a:solidFill>
                  <a:srgbClr val="383838"/>
                </a:solidFill>
                <a:latin typeface="Calibri"/>
                <a:cs typeface="Calibri"/>
              </a:rPr>
              <a:t>:</a:t>
            </a:r>
            <a:r>
              <a:rPr sz="700" spc="18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7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2"/>
              </a:rPr>
              <a:t>http://www.kogl.or.kr/index.do</a:t>
            </a:r>
            <a:endParaRPr sz="700">
              <a:latin typeface="Calibri"/>
              <a:cs typeface="Calibri"/>
            </a:endParaRPr>
          </a:p>
          <a:p>
            <a:pPr marL="60325" indent="-47625">
              <a:lnSpc>
                <a:spcPct val="100000"/>
              </a:lnSpc>
              <a:buFont typeface="Calibri"/>
              <a:buChar char="-"/>
              <a:tabLst>
                <a:tab pos="60325" algn="l"/>
              </a:tabLst>
            </a:pPr>
            <a:r>
              <a:rPr sz="700" spc="-10">
                <a:solidFill>
                  <a:srgbClr val="383838"/>
                </a:solidFill>
                <a:latin typeface="맑은 고딕"/>
                <a:cs typeface="맑은 고딕"/>
              </a:rPr>
              <a:t>서울시</a:t>
            </a:r>
            <a:r>
              <a:rPr sz="700" spc="-65">
                <a:solidFill>
                  <a:srgbClr val="383838"/>
                </a:solidFill>
                <a:latin typeface="맑은 고딕"/>
                <a:cs typeface="맑은 고딕"/>
              </a:rPr>
              <a:t> </a:t>
            </a:r>
            <a:r>
              <a:rPr sz="700" spc="-10">
                <a:solidFill>
                  <a:srgbClr val="383838"/>
                </a:solidFill>
                <a:latin typeface="맑은 고딕"/>
                <a:cs typeface="맑은 고딕"/>
              </a:rPr>
              <a:t>열린데이터</a:t>
            </a:r>
            <a:r>
              <a:rPr sz="700" spc="-65">
                <a:solidFill>
                  <a:srgbClr val="383838"/>
                </a:solidFill>
                <a:latin typeface="맑은 고딕"/>
                <a:cs typeface="맑은 고딕"/>
              </a:rPr>
              <a:t> </a:t>
            </a:r>
            <a:r>
              <a:rPr sz="700" spc="-10">
                <a:solidFill>
                  <a:srgbClr val="383838"/>
                </a:solidFill>
                <a:latin typeface="맑은 고딕"/>
                <a:cs typeface="맑은 고딕"/>
              </a:rPr>
              <a:t>광장</a:t>
            </a:r>
            <a:r>
              <a:rPr sz="700" spc="-75">
                <a:solidFill>
                  <a:srgbClr val="383838"/>
                </a:solidFill>
                <a:latin typeface="맑은 고딕"/>
                <a:cs typeface="맑은 고딕"/>
              </a:rPr>
              <a:t> </a:t>
            </a:r>
            <a:r>
              <a:rPr sz="700">
                <a:solidFill>
                  <a:srgbClr val="383838"/>
                </a:solidFill>
                <a:latin typeface="Calibri"/>
                <a:cs typeface="Calibri"/>
              </a:rPr>
              <a:t>:</a:t>
            </a:r>
            <a:r>
              <a:rPr sz="700" spc="18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7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3"/>
              </a:rPr>
              <a:t>http://data.seoul.go.kr/</a:t>
            </a:r>
            <a:endParaRPr sz="700">
              <a:latin typeface="Calibri"/>
              <a:cs typeface="Calibri"/>
            </a:endParaRPr>
          </a:p>
          <a:p>
            <a:pPr marL="60325" indent="-47625">
              <a:lnSpc>
                <a:spcPct val="100000"/>
              </a:lnSpc>
              <a:buFont typeface="Calibri"/>
              <a:buChar char="-"/>
              <a:tabLst>
                <a:tab pos="60325" algn="l"/>
              </a:tabLst>
            </a:pPr>
            <a:r>
              <a:rPr sz="700" spc="-10">
                <a:solidFill>
                  <a:srgbClr val="383838"/>
                </a:solidFill>
                <a:latin typeface="맑은 고딕"/>
                <a:cs typeface="맑은 고딕"/>
              </a:rPr>
              <a:t>지방행정</a:t>
            </a:r>
            <a:r>
              <a:rPr sz="700" spc="-65">
                <a:solidFill>
                  <a:srgbClr val="383838"/>
                </a:solidFill>
                <a:latin typeface="맑은 고딕"/>
                <a:cs typeface="맑은 고딕"/>
              </a:rPr>
              <a:t> </a:t>
            </a:r>
            <a:r>
              <a:rPr sz="700" spc="-10">
                <a:solidFill>
                  <a:srgbClr val="383838"/>
                </a:solidFill>
                <a:latin typeface="맑은 고딕"/>
                <a:cs typeface="맑은 고딕"/>
              </a:rPr>
              <a:t>인허가</a:t>
            </a:r>
            <a:r>
              <a:rPr sz="700" spc="-65">
                <a:solidFill>
                  <a:srgbClr val="383838"/>
                </a:solidFill>
                <a:latin typeface="맑은 고딕"/>
                <a:cs typeface="맑은 고딕"/>
              </a:rPr>
              <a:t> </a:t>
            </a:r>
            <a:r>
              <a:rPr sz="700">
                <a:solidFill>
                  <a:srgbClr val="383838"/>
                </a:solidFill>
                <a:latin typeface="Calibri"/>
                <a:cs typeface="Calibri"/>
              </a:rPr>
              <a:t>:</a:t>
            </a:r>
            <a:r>
              <a:rPr sz="700" spc="17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7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4"/>
              </a:rPr>
              <a:t>http://www.localdata.kr/main.do</a:t>
            </a:r>
            <a:endParaRPr sz="700">
              <a:latin typeface="Calibri"/>
              <a:cs typeface="Calibri"/>
            </a:endParaRPr>
          </a:p>
          <a:p>
            <a:pPr marL="60325" indent="-47625">
              <a:lnSpc>
                <a:spcPct val="100000"/>
              </a:lnSpc>
              <a:buFont typeface="Calibri"/>
              <a:buChar char="-"/>
              <a:tabLst>
                <a:tab pos="60325" algn="l"/>
              </a:tabLst>
            </a:pPr>
            <a:r>
              <a:rPr sz="700">
                <a:solidFill>
                  <a:srgbClr val="383838"/>
                </a:solidFill>
                <a:latin typeface="맑은 고딕"/>
                <a:cs typeface="맑은 고딕"/>
              </a:rPr>
              <a:t>스마트팜</a:t>
            </a:r>
            <a:r>
              <a:rPr sz="700">
                <a:solidFill>
                  <a:srgbClr val="383838"/>
                </a:solidFill>
                <a:latin typeface="Calibri"/>
                <a:cs typeface="Calibri"/>
              </a:rPr>
              <a:t>(</a:t>
            </a:r>
            <a:r>
              <a:rPr sz="700">
                <a:solidFill>
                  <a:srgbClr val="383838"/>
                </a:solidFill>
                <a:latin typeface="맑은 고딕"/>
                <a:cs typeface="맑은 고딕"/>
              </a:rPr>
              <a:t>농림수산부</a:t>
            </a:r>
            <a:r>
              <a:rPr sz="700">
                <a:solidFill>
                  <a:srgbClr val="383838"/>
                </a:solidFill>
                <a:latin typeface="Calibri"/>
                <a:cs typeface="Calibri"/>
              </a:rPr>
              <a:t>)</a:t>
            </a:r>
            <a:r>
              <a:rPr sz="700" spc="1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700">
                <a:solidFill>
                  <a:srgbClr val="383838"/>
                </a:solidFill>
                <a:latin typeface="Calibri"/>
                <a:cs typeface="Calibri"/>
              </a:rPr>
              <a:t>:</a:t>
            </a:r>
            <a:r>
              <a:rPr sz="700" spc="13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7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5"/>
              </a:rPr>
              <a:t>https://www.smartfarmkorea.net/front/open/list.do?menuId=M01060201</a:t>
            </a:r>
            <a:endParaRPr sz="700">
              <a:latin typeface="Calibri"/>
              <a:cs typeface="Calibri"/>
            </a:endParaRPr>
          </a:p>
          <a:p>
            <a:pPr marL="60325" indent="-47625">
              <a:lnSpc>
                <a:spcPct val="100000"/>
              </a:lnSpc>
              <a:buFont typeface="Calibri"/>
              <a:buChar char="-"/>
              <a:tabLst>
                <a:tab pos="60325" algn="l"/>
              </a:tabLst>
            </a:pPr>
            <a:r>
              <a:rPr sz="700" spc="-10">
                <a:solidFill>
                  <a:srgbClr val="383838"/>
                </a:solidFill>
                <a:latin typeface="맑은 고딕"/>
                <a:cs typeface="맑은 고딕"/>
              </a:rPr>
              <a:t>핀테크</a:t>
            </a:r>
            <a:r>
              <a:rPr sz="700" spc="-70">
                <a:solidFill>
                  <a:srgbClr val="383838"/>
                </a:solidFill>
                <a:latin typeface="맑은 고딕"/>
                <a:cs typeface="맑은 고딕"/>
              </a:rPr>
              <a:t> </a:t>
            </a:r>
            <a:r>
              <a:rPr sz="700">
                <a:solidFill>
                  <a:srgbClr val="383838"/>
                </a:solidFill>
                <a:latin typeface="Calibri"/>
                <a:cs typeface="Calibri"/>
              </a:rPr>
              <a:t>:</a:t>
            </a:r>
            <a:r>
              <a:rPr sz="700" spc="165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7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6"/>
              </a:rPr>
              <a:t>http://biz.koscom.co.kr/cmm/intro/introSvcApi.do;jsessionid=714F81ED803B4F09931811E3F8567761</a:t>
            </a:r>
            <a:endParaRPr sz="700">
              <a:latin typeface="Calibri"/>
              <a:cs typeface="Calibri"/>
            </a:endParaRPr>
          </a:p>
          <a:p>
            <a:pPr marL="60325" indent="-47625">
              <a:lnSpc>
                <a:spcPct val="100000"/>
              </a:lnSpc>
              <a:buFont typeface="Calibri"/>
              <a:buChar char="-"/>
              <a:tabLst>
                <a:tab pos="60325" algn="l"/>
              </a:tabLst>
            </a:pPr>
            <a:r>
              <a:rPr sz="700" spc="-10">
                <a:solidFill>
                  <a:srgbClr val="383838"/>
                </a:solidFill>
                <a:latin typeface="맑은 고딕"/>
                <a:cs typeface="맑은 고딕"/>
              </a:rPr>
              <a:t>생활안전지도</a:t>
            </a:r>
            <a:r>
              <a:rPr sz="700" spc="-50">
                <a:solidFill>
                  <a:srgbClr val="383838"/>
                </a:solidFill>
                <a:latin typeface="맑은 고딕"/>
                <a:cs typeface="맑은 고딕"/>
              </a:rPr>
              <a:t> </a:t>
            </a:r>
            <a:r>
              <a:rPr sz="700">
                <a:solidFill>
                  <a:srgbClr val="383838"/>
                </a:solidFill>
                <a:latin typeface="Calibri"/>
                <a:cs typeface="Calibri"/>
              </a:rPr>
              <a:t>:</a:t>
            </a:r>
            <a:r>
              <a:rPr sz="700" spc="17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7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7"/>
              </a:rPr>
              <a:t>http://www.safemap.go.kr/dvct/openAPI.do</a:t>
            </a:r>
            <a:endParaRPr sz="700">
              <a:latin typeface="Calibri"/>
              <a:cs typeface="Calibri"/>
            </a:endParaRPr>
          </a:p>
          <a:p>
            <a:pPr marL="59690" indent="-46990">
              <a:lnSpc>
                <a:spcPct val="100000"/>
              </a:lnSpc>
              <a:buFont typeface="Calibri"/>
              <a:buChar char="-"/>
              <a:tabLst>
                <a:tab pos="59690" algn="l"/>
              </a:tabLst>
            </a:pPr>
            <a:r>
              <a:rPr sz="700" spc="-10">
                <a:solidFill>
                  <a:srgbClr val="383838"/>
                </a:solidFill>
                <a:latin typeface="맑은 고딕"/>
                <a:cs typeface="맑은 고딕"/>
              </a:rPr>
              <a:t>옥션</a:t>
            </a:r>
            <a:r>
              <a:rPr sz="700" spc="-85">
                <a:solidFill>
                  <a:srgbClr val="383838"/>
                </a:solidFill>
                <a:latin typeface="맑은 고딕"/>
                <a:cs typeface="맑은 고딕"/>
              </a:rPr>
              <a:t> </a:t>
            </a:r>
            <a:r>
              <a:rPr sz="700">
                <a:solidFill>
                  <a:srgbClr val="383838"/>
                </a:solidFill>
                <a:latin typeface="Calibri"/>
                <a:cs typeface="Calibri"/>
              </a:rPr>
              <a:t>:</a:t>
            </a:r>
            <a:r>
              <a:rPr sz="700" spc="165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7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8"/>
              </a:rPr>
              <a:t>http://developer.auction.co.kr/</a:t>
            </a:r>
            <a:endParaRPr sz="700">
              <a:latin typeface="Calibri"/>
              <a:cs typeface="Calibri"/>
            </a:endParaRPr>
          </a:p>
          <a:p>
            <a:pPr marL="60325" indent="-47625">
              <a:lnSpc>
                <a:spcPct val="100000"/>
              </a:lnSpc>
              <a:buFont typeface="Calibri"/>
              <a:buChar char="-"/>
              <a:tabLst>
                <a:tab pos="60325" algn="l"/>
              </a:tabLst>
            </a:pPr>
            <a:r>
              <a:rPr sz="700" spc="-10">
                <a:solidFill>
                  <a:srgbClr val="383838"/>
                </a:solidFill>
                <a:latin typeface="맑은 고딕"/>
                <a:cs typeface="맑은 고딕"/>
              </a:rPr>
              <a:t>큐넷</a:t>
            </a:r>
            <a:r>
              <a:rPr sz="700" spc="-75">
                <a:solidFill>
                  <a:srgbClr val="383838"/>
                </a:solidFill>
                <a:latin typeface="맑은 고딕"/>
                <a:cs typeface="맑은 고딕"/>
              </a:rPr>
              <a:t> </a:t>
            </a:r>
            <a:r>
              <a:rPr sz="700" spc="-10">
                <a:solidFill>
                  <a:srgbClr val="383838"/>
                </a:solidFill>
                <a:latin typeface="맑은 고딕"/>
                <a:cs typeface="맑은 고딕"/>
              </a:rPr>
              <a:t>자격증</a:t>
            </a:r>
            <a:r>
              <a:rPr sz="700" spc="-60">
                <a:solidFill>
                  <a:srgbClr val="383838"/>
                </a:solidFill>
                <a:latin typeface="맑은 고딕"/>
                <a:cs typeface="맑은 고딕"/>
              </a:rPr>
              <a:t> </a:t>
            </a:r>
            <a:r>
              <a:rPr sz="700">
                <a:solidFill>
                  <a:srgbClr val="383838"/>
                </a:solidFill>
                <a:latin typeface="Calibri"/>
                <a:cs typeface="Calibri"/>
              </a:rPr>
              <a:t>:</a:t>
            </a:r>
            <a:r>
              <a:rPr sz="700" spc="185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7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19"/>
              </a:rPr>
              <a:t>http://www.q-net.or.kr/cst012.do?id=cst01203&amp;gSite=Q&amp;gId=</a:t>
            </a:r>
            <a:endParaRPr sz="700">
              <a:latin typeface="Calibri"/>
              <a:cs typeface="Calibri"/>
            </a:endParaRPr>
          </a:p>
          <a:p>
            <a:pPr marL="60325" indent="-47625">
              <a:lnSpc>
                <a:spcPct val="100000"/>
              </a:lnSpc>
              <a:buFont typeface="Calibri"/>
              <a:buChar char="-"/>
              <a:tabLst>
                <a:tab pos="60325" algn="l"/>
              </a:tabLst>
            </a:pPr>
            <a:r>
              <a:rPr sz="700" spc="-10">
                <a:solidFill>
                  <a:srgbClr val="383838"/>
                </a:solidFill>
                <a:latin typeface="맑은 고딕"/>
                <a:cs typeface="맑은 고딕"/>
              </a:rPr>
              <a:t>전자공시</a:t>
            </a:r>
            <a:r>
              <a:rPr sz="700" spc="-70">
                <a:solidFill>
                  <a:srgbClr val="383838"/>
                </a:solidFill>
                <a:latin typeface="맑은 고딕"/>
                <a:cs typeface="맑은 고딕"/>
              </a:rPr>
              <a:t> </a:t>
            </a:r>
            <a:r>
              <a:rPr sz="700" spc="-10">
                <a:solidFill>
                  <a:srgbClr val="383838"/>
                </a:solidFill>
                <a:latin typeface="Calibri"/>
                <a:cs typeface="Calibri"/>
              </a:rPr>
              <a:t>opendart</a:t>
            </a:r>
            <a:r>
              <a:rPr sz="700" spc="35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700">
                <a:solidFill>
                  <a:srgbClr val="383838"/>
                </a:solidFill>
                <a:latin typeface="Calibri"/>
                <a:cs typeface="Calibri"/>
              </a:rPr>
              <a:t>:</a:t>
            </a:r>
            <a:r>
              <a:rPr sz="700" spc="18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7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0"/>
              </a:rPr>
              <a:t>https://opendart.fss.or.kr/intro/main.do</a:t>
            </a:r>
            <a:endParaRPr sz="700">
              <a:latin typeface="Calibri"/>
              <a:cs typeface="Calibri"/>
            </a:endParaRPr>
          </a:p>
          <a:p>
            <a:pPr marL="60325" indent="-47625">
              <a:lnSpc>
                <a:spcPct val="100000"/>
              </a:lnSpc>
              <a:buFont typeface="Calibri"/>
              <a:buChar char="-"/>
              <a:tabLst>
                <a:tab pos="60325" algn="l"/>
              </a:tabLst>
            </a:pPr>
            <a:r>
              <a:rPr sz="700" spc="-10">
                <a:solidFill>
                  <a:srgbClr val="383838"/>
                </a:solidFill>
                <a:latin typeface="맑은 고딕"/>
                <a:cs typeface="맑은 고딕"/>
              </a:rPr>
              <a:t>진로정보망</a:t>
            </a:r>
            <a:r>
              <a:rPr sz="700" spc="-65">
                <a:solidFill>
                  <a:srgbClr val="383838"/>
                </a:solidFill>
                <a:latin typeface="맑은 고딕"/>
                <a:cs typeface="맑은 고딕"/>
              </a:rPr>
              <a:t> </a:t>
            </a:r>
            <a:r>
              <a:rPr sz="700" spc="-10">
                <a:solidFill>
                  <a:srgbClr val="383838"/>
                </a:solidFill>
                <a:latin typeface="맑은 고딕"/>
                <a:cs typeface="맑은 고딕"/>
              </a:rPr>
              <a:t>커리어넷</a:t>
            </a:r>
            <a:r>
              <a:rPr sz="700" spc="-65">
                <a:solidFill>
                  <a:srgbClr val="383838"/>
                </a:solidFill>
                <a:latin typeface="맑은 고딕"/>
                <a:cs typeface="맑은 고딕"/>
              </a:rPr>
              <a:t> </a:t>
            </a:r>
            <a:r>
              <a:rPr sz="700">
                <a:solidFill>
                  <a:srgbClr val="383838"/>
                </a:solidFill>
                <a:latin typeface="Calibri"/>
                <a:cs typeface="Calibri"/>
              </a:rPr>
              <a:t>:</a:t>
            </a:r>
            <a:r>
              <a:rPr sz="700" spc="185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7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1"/>
              </a:rPr>
              <a:t>https://www.career.go.kr/cnet/front/openapi/openApiMainCenter.do</a:t>
            </a:r>
            <a:endParaRPr sz="700">
              <a:latin typeface="Calibri"/>
              <a:cs typeface="Calibri"/>
            </a:endParaRPr>
          </a:p>
          <a:p>
            <a:pPr marL="60325" indent="-47625">
              <a:lnSpc>
                <a:spcPct val="100000"/>
              </a:lnSpc>
              <a:buFont typeface="Calibri"/>
              <a:buChar char="-"/>
              <a:tabLst>
                <a:tab pos="60325" algn="l"/>
              </a:tabLst>
            </a:pPr>
            <a:r>
              <a:rPr sz="700" spc="-10">
                <a:solidFill>
                  <a:srgbClr val="383838"/>
                </a:solidFill>
                <a:latin typeface="맑은 고딕"/>
                <a:cs typeface="맑은 고딕"/>
              </a:rPr>
              <a:t>오픈뱅킹</a:t>
            </a:r>
            <a:r>
              <a:rPr sz="700" spc="-55">
                <a:solidFill>
                  <a:srgbClr val="383838"/>
                </a:solidFill>
                <a:latin typeface="맑은 고딕"/>
                <a:cs typeface="맑은 고딕"/>
              </a:rPr>
              <a:t> </a:t>
            </a:r>
            <a:r>
              <a:rPr sz="700">
                <a:solidFill>
                  <a:srgbClr val="383838"/>
                </a:solidFill>
                <a:latin typeface="Calibri"/>
                <a:cs typeface="Calibri"/>
              </a:rPr>
              <a:t>:</a:t>
            </a:r>
            <a:r>
              <a:rPr sz="700" spc="195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7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2"/>
              </a:rPr>
              <a:t>https://www.open-platform.or.kr/apt/content/openapi?location=openApi1</a:t>
            </a:r>
            <a:endParaRPr sz="700">
              <a:latin typeface="Calibri"/>
              <a:cs typeface="Calibri"/>
            </a:endParaRPr>
          </a:p>
          <a:p>
            <a:pPr marL="60325" indent="-47625">
              <a:lnSpc>
                <a:spcPts val="840"/>
              </a:lnSpc>
              <a:buFont typeface="Calibri"/>
              <a:buChar char="-"/>
              <a:tabLst>
                <a:tab pos="60325" algn="l"/>
              </a:tabLst>
            </a:pPr>
            <a:r>
              <a:rPr sz="700" spc="-10">
                <a:solidFill>
                  <a:srgbClr val="383838"/>
                </a:solidFill>
                <a:latin typeface="맑은 고딕"/>
                <a:cs typeface="맑은 고딕"/>
              </a:rPr>
              <a:t>국회</a:t>
            </a:r>
            <a:r>
              <a:rPr sz="700" spc="-65">
                <a:solidFill>
                  <a:srgbClr val="383838"/>
                </a:solidFill>
                <a:latin typeface="맑은 고딕"/>
                <a:cs typeface="맑은 고딕"/>
              </a:rPr>
              <a:t> </a:t>
            </a:r>
            <a:r>
              <a:rPr sz="700" spc="-10">
                <a:solidFill>
                  <a:srgbClr val="383838"/>
                </a:solidFill>
                <a:latin typeface="맑은 고딕"/>
                <a:cs typeface="맑은 고딕"/>
              </a:rPr>
              <a:t>자동화정보</a:t>
            </a:r>
            <a:r>
              <a:rPr sz="700" spc="-35">
                <a:solidFill>
                  <a:srgbClr val="383838"/>
                </a:solidFill>
                <a:latin typeface="맑은 고딕"/>
                <a:cs typeface="맑은 고딕"/>
              </a:rPr>
              <a:t> </a:t>
            </a:r>
            <a:r>
              <a:rPr sz="700">
                <a:solidFill>
                  <a:srgbClr val="383838"/>
                </a:solidFill>
                <a:latin typeface="Calibri"/>
                <a:cs typeface="Calibri"/>
              </a:rPr>
              <a:t>:</a:t>
            </a:r>
            <a:r>
              <a:rPr sz="700" spc="195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7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3"/>
              </a:rPr>
              <a:t>http://data.popong.com/</a:t>
            </a:r>
            <a:r>
              <a:rPr sz="700" u="none" spc="-10">
                <a:solidFill>
                  <a:srgbClr val="383838"/>
                </a:solidFill>
                <a:latin typeface="Calibri"/>
                <a:cs typeface="Calibri"/>
              </a:rPr>
              <a:t>,</a:t>
            </a:r>
            <a:r>
              <a:rPr sz="700" u="none" spc="254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7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4"/>
              </a:rPr>
              <a:t>https://github.com/teampopong</a:t>
            </a:r>
            <a:endParaRPr sz="700">
              <a:latin typeface="Calibri"/>
              <a:cs typeface="Calibri"/>
            </a:endParaRPr>
          </a:p>
          <a:p>
            <a:pPr marL="64769" indent="-52069">
              <a:lnSpc>
                <a:spcPts val="960"/>
              </a:lnSpc>
              <a:buFont typeface="Calibri"/>
              <a:buChar char="-"/>
              <a:tabLst>
                <a:tab pos="64769" algn="l"/>
              </a:tabLst>
            </a:pPr>
            <a:r>
              <a:rPr sz="800">
                <a:solidFill>
                  <a:srgbClr val="383838"/>
                </a:solidFill>
                <a:latin typeface="맑은 고딕"/>
                <a:cs typeface="맑은 고딕"/>
              </a:rPr>
              <a:t>데이터스토어</a:t>
            </a:r>
            <a:r>
              <a:rPr sz="800" spc="-130">
                <a:solidFill>
                  <a:srgbClr val="383838"/>
                </a:solidFill>
                <a:latin typeface="맑은 고딕"/>
                <a:cs typeface="맑은 고딕"/>
              </a:rPr>
              <a:t> </a:t>
            </a:r>
            <a:r>
              <a:rPr sz="800">
                <a:solidFill>
                  <a:srgbClr val="383838"/>
                </a:solidFill>
                <a:latin typeface="Calibri"/>
                <a:cs typeface="Calibri"/>
              </a:rPr>
              <a:t>:</a:t>
            </a:r>
            <a:r>
              <a:rPr sz="800" spc="16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8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5"/>
              </a:rPr>
              <a:t>https://www.datastore.or.kr/</a:t>
            </a:r>
            <a:endParaRPr sz="800">
              <a:latin typeface="Calibri"/>
              <a:cs typeface="Calibri"/>
            </a:endParaRPr>
          </a:p>
          <a:p>
            <a:pPr marL="64769" indent="-52069">
              <a:lnSpc>
                <a:spcPct val="100000"/>
              </a:lnSpc>
              <a:buChar char="-"/>
              <a:tabLst>
                <a:tab pos="64769" algn="l"/>
              </a:tabLst>
            </a:pPr>
            <a:r>
              <a:rPr sz="800">
                <a:solidFill>
                  <a:srgbClr val="383838"/>
                </a:solidFill>
                <a:latin typeface="Calibri"/>
                <a:cs typeface="Calibri"/>
              </a:rPr>
              <a:t>DBpia</a:t>
            </a:r>
            <a:r>
              <a:rPr sz="800" spc="-15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800">
                <a:solidFill>
                  <a:srgbClr val="383838"/>
                </a:solidFill>
                <a:latin typeface="맑은 고딕"/>
                <a:cs typeface="맑은 고딕"/>
              </a:rPr>
              <a:t>학술정보</a:t>
            </a:r>
            <a:r>
              <a:rPr sz="800" spc="-114">
                <a:solidFill>
                  <a:srgbClr val="383838"/>
                </a:solidFill>
                <a:latin typeface="맑은 고딕"/>
                <a:cs typeface="맑은 고딕"/>
              </a:rPr>
              <a:t> </a:t>
            </a:r>
            <a:r>
              <a:rPr sz="800">
                <a:solidFill>
                  <a:srgbClr val="383838"/>
                </a:solidFill>
                <a:latin typeface="Calibri"/>
                <a:cs typeface="Calibri"/>
              </a:rPr>
              <a:t>:</a:t>
            </a:r>
            <a:r>
              <a:rPr sz="800" spc="145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8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6"/>
              </a:rPr>
              <a:t>http://api.dbpia.co.kr/openApi/about/intro.do</a:t>
            </a:r>
            <a:endParaRPr sz="800">
              <a:latin typeface="Calibri"/>
              <a:cs typeface="Calibri"/>
            </a:endParaRPr>
          </a:p>
          <a:p>
            <a:pPr marL="64769" indent="-52069">
              <a:lnSpc>
                <a:spcPct val="100000"/>
              </a:lnSpc>
              <a:buFont typeface="Calibri"/>
              <a:buChar char="-"/>
              <a:tabLst>
                <a:tab pos="64769" algn="l"/>
              </a:tabLst>
            </a:pPr>
            <a:r>
              <a:rPr sz="800">
                <a:solidFill>
                  <a:srgbClr val="383838"/>
                </a:solidFill>
                <a:latin typeface="맑은 고딕"/>
                <a:cs typeface="맑은 고딕"/>
              </a:rPr>
              <a:t>사람인</a:t>
            </a:r>
            <a:r>
              <a:rPr sz="800" spc="-60">
                <a:solidFill>
                  <a:srgbClr val="383838"/>
                </a:solidFill>
                <a:latin typeface="맑은 고딕"/>
                <a:cs typeface="맑은 고딕"/>
              </a:rPr>
              <a:t> </a:t>
            </a:r>
            <a:r>
              <a:rPr sz="800">
                <a:solidFill>
                  <a:srgbClr val="383838"/>
                </a:solidFill>
                <a:latin typeface="맑은 고딕"/>
                <a:cs typeface="맑은 고딕"/>
              </a:rPr>
              <a:t>취업정보</a:t>
            </a:r>
            <a:r>
              <a:rPr sz="800" spc="-70">
                <a:solidFill>
                  <a:srgbClr val="383838"/>
                </a:solidFill>
                <a:latin typeface="맑은 고딕"/>
                <a:cs typeface="맑은 고딕"/>
              </a:rPr>
              <a:t> </a:t>
            </a:r>
            <a:r>
              <a:rPr sz="800">
                <a:solidFill>
                  <a:srgbClr val="383838"/>
                </a:solidFill>
                <a:latin typeface="Calibri"/>
                <a:cs typeface="Calibri"/>
              </a:rPr>
              <a:t>:</a:t>
            </a:r>
            <a:r>
              <a:rPr sz="800" spc="295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8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7"/>
              </a:rPr>
              <a:t>http://api.saramin.co.kr/documents/job-search-</a:t>
            </a:r>
            <a:r>
              <a:rPr sz="800" u="sng" spc="-2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7"/>
              </a:rPr>
              <a:t>ap</a:t>
            </a:r>
            <a:r>
              <a:rPr sz="800" u="none" spc="-25">
                <a:solidFill>
                  <a:srgbClr val="0462C1"/>
                </a:solidFill>
                <a:latin typeface="Calibri"/>
                <a:cs typeface="Calibri"/>
                <a:hlinkClick r:id="rId27"/>
              </a:rPr>
              <a:t>i</a:t>
            </a:r>
            <a:endParaRPr sz="800">
              <a:latin typeface="Calibri"/>
              <a:cs typeface="Calibri"/>
            </a:endParaRPr>
          </a:p>
          <a:p>
            <a:pPr marL="64769" indent="-52069">
              <a:lnSpc>
                <a:spcPct val="100000"/>
              </a:lnSpc>
              <a:buFont typeface="Calibri"/>
              <a:buChar char="-"/>
              <a:tabLst>
                <a:tab pos="64769" algn="l"/>
              </a:tabLst>
            </a:pPr>
            <a:r>
              <a:rPr sz="800">
                <a:solidFill>
                  <a:srgbClr val="383838"/>
                </a:solidFill>
                <a:latin typeface="맑은 고딕"/>
                <a:cs typeface="맑은 고딕"/>
              </a:rPr>
              <a:t>카카오</a:t>
            </a:r>
            <a:r>
              <a:rPr sz="800" spc="-114">
                <a:solidFill>
                  <a:srgbClr val="383838"/>
                </a:solidFill>
                <a:latin typeface="맑은 고딕"/>
                <a:cs typeface="맑은 고딕"/>
              </a:rPr>
              <a:t> </a:t>
            </a:r>
            <a:r>
              <a:rPr sz="800">
                <a:solidFill>
                  <a:srgbClr val="383838"/>
                </a:solidFill>
                <a:latin typeface="Calibri"/>
                <a:cs typeface="Calibri"/>
              </a:rPr>
              <a:t>openapi</a:t>
            </a:r>
            <a:r>
              <a:rPr sz="800" spc="-1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800">
                <a:solidFill>
                  <a:srgbClr val="383838"/>
                </a:solidFill>
                <a:latin typeface="Calibri"/>
                <a:cs typeface="Calibri"/>
              </a:rPr>
              <a:t>:</a:t>
            </a:r>
            <a:r>
              <a:rPr sz="800" spc="14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8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8"/>
              </a:rPr>
              <a:t>https://developers.kakao.com/</a:t>
            </a:r>
            <a:endParaRPr sz="800">
              <a:latin typeface="Calibri"/>
              <a:cs typeface="Calibri"/>
            </a:endParaRPr>
          </a:p>
          <a:p>
            <a:pPr marL="64769" indent="-52069">
              <a:lnSpc>
                <a:spcPct val="100000"/>
              </a:lnSpc>
              <a:buFont typeface="Calibri"/>
              <a:buChar char="-"/>
              <a:tabLst>
                <a:tab pos="64769" algn="l"/>
              </a:tabLst>
            </a:pPr>
            <a:r>
              <a:rPr sz="800">
                <a:solidFill>
                  <a:srgbClr val="383838"/>
                </a:solidFill>
                <a:latin typeface="맑은 고딕"/>
                <a:cs typeface="맑은 고딕"/>
              </a:rPr>
              <a:t>네이버</a:t>
            </a:r>
            <a:r>
              <a:rPr sz="800" spc="-114">
                <a:solidFill>
                  <a:srgbClr val="383838"/>
                </a:solidFill>
                <a:latin typeface="맑은 고딕"/>
                <a:cs typeface="맑은 고딕"/>
              </a:rPr>
              <a:t> </a:t>
            </a:r>
            <a:r>
              <a:rPr sz="800">
                <a:solidFill>
                  <a:srgbClr val="383838"/>
                </a:solidFill>
                <a:latin typeface="Calibri"/>
                <a:cs typeface="Calibri"/>
              </a:rPr>
              <a:t>dev</a:t>
            </a:r>
            <a:r>
              <a:rPr sz="800" spc="-5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800">
                <a:solidFill>
                  <a:srgbClr val="383838"/>
                </a:solidFill>
                <a:latin typeface="Calibri"/>
                <a:cs typeface="Calibri"/>
              </a:rPr>
              <a:t>:</a:t>
            </a:r>
            <a:r>
              <a:rPr sz="800" spc="15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8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9"/>
              </a:rPr>
              <a:t>https://developers.naver.com/main/</a:t>
            </a:r>
            <a:endParaRPr sz="800">
              <a:latin typeface="Calibri"/>
              <a:cs typeface="Calibri"/>
            </a:endParaRPr>
          </a:p>
          <a:p>
            <a:pPr marL="64769" indent="-52069">
              <a:lnSpc>
                <a:spcPct val="100000"/>
              </a:lnSpc>
              <a:buFont typeface="Calibri"/>
              <a:buChar char="-"/>
              <a:tabLst>
                <a:tab pos="64769" algn="l"/>
              </a:tabLst>
            </a:pPr>
            <a:r>
              <a:rPr sz="800">
                <a:solidFill>
                  <a:srgbClr val="383838"/>
                </a:solidFill>
                <a:latin typeface="맑은 고딕"/>
                <a:cs typeface="맑은 고딕"/>
              </a:rPr>
              <a:t>박스오피스</a:t>
            </a:r>
            <a:r>
              <a:rPr sz="800" spc="-130">
                <a:solidFill>
                  <a:srgbClr val="383838"/>
                </a:solidFill>
                <a:latin typeface="맑은 고딕"/>
                <a:cs typeface="맑은 고딕"/>
              </a:rPr>
              <a:t> </a:t>
            </a:r>
            <a:r>
              <a:rPr sz="800">
                <a:solidFill>
                  <a:srgbClr val="383838"/>
                </a:solidFill>
                <a:latin typeface="Calibri"/>
                <a:cs typeface="Calibri"/>
              </a:rPr>
              <a:t>:</a:t>
            </a:r>
            <a:r>
              <a:rPr sz="800" spc="16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8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0"/>
              </a:rPr>
              <a:t>https://www.kobis.or.kr/kobisopenapi/homepg/apiservice/searchServiceInfo.do</a:t>
            </a:r>
            <a:endParaRPr sz="800">
              <a:latin typeface="Calibri"/>
              <a:cs typeface="Calibri"/>
            </a:endParaRPr>
          </a:p>
          <a:p>
            <a:pPr marL="64769" indent="-52069">
              <a:lnSpc>
                <a:spcPct val="100000"/>
              </a:lnSpc>
              <a:buFont typeface="Calibri"/>
              <a:buChar char="-"/>
              <a:tabLst>
                <a:tab pos="64769" algn="l"/>
              </a:tabLst>
            </a:pPr>
            <a:r>
              <a:rPr sz="800" spc="-10">
                <a:solidFill>
                  <a:srgbClr val="383838"/>
                </a:solidFill>
                <a:latin typeface="맑은 고딕"/>
                <a:cs typeface="맑은 고딕"/>
              </a:rPr>
              <a:t>문화데이터</a:t>
            </a:r>
            <a:r>
              <a:rPr sz="800" spc="-120">
                <a:solidFill>
                  <a:srgbClr val="383838"/>
                </a:solidFill>
                <a:latin typeface="맑은 고딕"/>
                <a:cs typeface="맑은 고딕"/>
              </a:rPr>
              <a:t> </a:t>
            </a:r>
            <a:r>
              <a:rPr sz="800">
                <a:solidFill>
                  <a:srgbClr val="383838"/>
                </a:solidFill>
                <a:latin typeface="Calibri"/>
                <a:cs typeface="Calibri"/>
              </a:rPr>
              <a:t>:</a:t>
            </a:r>
            <a:r>
              <a:rPr sz="800" spc="18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8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1"/>
              </a:rPr>
              <a:t>https://www.culture.go.kr/data/openapi/openapiInfo.do</a:t>
            </a:r>
            <a:endParaRPr sz="800">
              <a:latin typeface="Calibri"/>
              <a:cs typeface="Calibri"/>
            </a:endParaRPr>
          </a:p>
          <a:p>
            <a:pPr marL="64769" indent="-52069">
              <a:lnSpc>
                <a:spcPct val="100000"/>
              </a:lnSpc>
              <a:spcBef>
                <a:spcPts val="5"/>
              </a:spcBef>
              <a:buFont typeface="Calibri"/>
              <a:buChar char="-"/>
              <a:tabLst>
                <a:tab pos="64769" algn="l"/>
              </a:tabLst>
            </a:pPr>
            <a:r>
              <a:rPr sz="800">
                <a:solidFill>
                  <a:srgbClr val="383838"/>
                </a:solidFill>
                <a:latin typeface="맑은 고딕"/>
                <a:cs typeface="맑은 고딕"/>
              </a:rPr>
              <a:t>영화정보</a:t>
            </a:r>
            <a:r>
              <a:rPr sz="800" spc="-114">
                <a:solidFill>
                  <a:srgbClr val="383838"/>
                </a:solidFill>
                <a:latin typeface="맑은 고딕"/>
                <a:cs typeface="맑은 고딕"/>
              </a:rPr>
              <a:t> </a:t>
            </a:r>
            <a:r>
              <a:rPr sz="800">
                <a:solidFill>
                  <a:srgbClr val="383838"/>
                </a:solidFill>
                <a:latin typeface="Calibri"/>
                <a:cs typeface="Calibri"/>
              </a:rPr>
              <a:t>:</a:t>
            </a:r>
            <a:r>
              <a:rPr sz="800" spc="16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8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2"/>
              </a:rPr>
              <a:t>https://www.kmdb.or.kr/info/api/apiList?menuIndex=</a:t>
            </a:r>
            <a:endParaRPr sz="800">
              <a:latin typeface="Calibri"/>
              <a:cs typeface="Calibri"/>
            </a:endParaRPr>
          </a:p>
          <a:p>
            <a:pPr marL="64769" indent="-52069">
              <a:lnSpc>
                <a:spcPct val="100000"/>
              </a:lnSpc>
              <a:buFont typeface="Calibri"/>
              <a:buChar char="-"/>
              <a:tabLst>
                <a:tab pos="64769" algn="l"/>
              </a:tabLst>
            </a:pPr>
            <a:r>
              <a:rPr sz="800">
                <a:solidFill>
                  <a:srgbClr val="383838"/>
                </a:solidFill>
                <a:latin typeface="맑은 고딕"/>
                <a:cs typeface="맑은 고딕"/>
              </a:rPr>
              <a:t>서울시연구원</a:t>
            </a:r>
            <a:r>
              <a:rPr sz="800" spc="-130">
                <a:solidFill>
                  <a:srgbClr val="383838"/>
                </a:solidFill>
                <a:latin typeface="맑은 고딕"/>
                <a:cs typeface="맑은 고딕"/>
              </a:rPr>
              <a:t> </a:t>
            </a:r>
            <a:r>
              <a:rPr sz="800">
                <a:solidFill>
                  <a:srgbClr val="383838"/>
                </a:solidFill>
                <a:latin typeface="Calibri"/>
                <a:cs typeface="Calibri"/>
              </a:rPr>
              <a:t>:</a:t>
            </a:r>
            <a:r>
              <a:rPr sz="800" spc="16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8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3"/>
              </a:rPr>
              <a:t>https://www.si.re.kr/openapi</a:t>
            </a:r>
            <a:endParaRPr sz="800">
              <a:latin typeface="Calibri"/>
              <a:cs typeface="Calibri"/>
            </a:endParaRPr>
          </a:p>
          <a:p>
            <a:pPr marL="64769" indent="-52069">
              <a:lnSpc>
                <a:spcPct val="100000"/>
              </a:lnSpc>
              <a:buFont typeface="Calibri"/>
              <a:buChar char="-"/>
              <a:tabLst>
                <a:tab pos="64769" algn="l"/>
              </a:tabLst>
            </a:pPr>
            <a:r>
              <a:rPr sz="800">
                <a:solidFill>
                  <a:srgbClr val="383838"/>
                </a:solidFill>
                <a:latin typeface="맑은 고딕"/>
                <a:cs typeface="맑은 고딕"/>
              </a:rPr>
              <a:t>문화재청</a:t>
            </a:r>
            <a:r>
              <a:rPr sz="800" spc="-114">
                <a:solidFill>
                  <a:srgbClr val="383838"/>
                </a:solidFill>
                <a:latin typeface="맑은 고딕"/>
                <a:cs typeface="맑은 고딕"/>
              </a:rPr>
              <a:t> </a:t>
            </a:r>
            <a:r>
              <a:rPr sz="800">
                <a:solidFill>
                  <a:srgbClr val="383838"/>
                </a:solidFill>
                <a:latin typeface="Calibri"/>
                <a:cs typeface="Calibri"/>
              </a:rPr>
              <a:t>:</a:t>
            </a:r>
            <a:r>
              <a:rPr sz="800" spc="16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8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4"/>
              </a:rPr>
              <a:t>http://www.cha.go.kr/html/HtmlPage.do?pg=/publicinfo/pbinfo3_0101.jsp&amp;mn=NS_04_04_02</a:t>
            </a:r>
            <a:endParaRPr sz="800">
              <a:latin typeface="Calibri"/>
              <a:cs typeface="Calibri"/>
            </a:endParaRPr>
          </a:p>
          <a:p>
            <a:pPr marL="64769" indent="-52069">
              <a:lnSpc>
                <a:spcPct val="100000"/>
              </a:lnSpc>
              <a:buFont typeface="Calibri"/>
              <a:buChar char="-"/>
              <a:tabLst>
                <a:tab pos="64769" algn="l"/>
              </a:tabLst>
            </a:pPr>
            <a:r>
              <a:rPr sz="800">
                <a:solidFill>
                  <a:srgbClr val="383838"/>
                </a:solidFill>
                <a:latin typeface="맑은 고딕"/>
                <a:cs typeface="맑은 고딕"/>
              </a:rPr>
              <a:t>글로벌전시</a:t>
            </a:r>
            <a:r>
              <a:rPr sz="800" spc="-75">
                <a:solidFill>
                  <a:srgbClr val="383838"/>
                </a:solidFill>
                <a:latin typeface="맑은 고딕"/>
                <a:cs typeface="맑은 고딕"/>
              </a:rPr>
              <a:t> </a:t>
            </a:r>
            <a:r>
              <a:rPr sz="800">
                <a:solidFill>
                  <a:srgbClr val="383838"/>
                </a:solidFill>
                <a:latin typeface="Calibri"/>
                <a:cs typeface="Calibri"/>
              </a:rPr>
              <a:t>:</a:t>
            </a:r>
            <a:r>
              <a:rPr sz="800" spc="275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8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5"/>
              </a:rPr>
              <a:t>http://www.gep.or.kr/overseas-exhibition/openapi/</a:t>
            </a:r>
            <a:endParaRPr sz="800">
              <a:latin typeface="Calibri"/>
              <a:cs typeface="Calibri"/>
            </a:endParaRPr>
          </a:p>
          <a:p>
            <a:pPr marL="64769" indent="-52069">
              <a:lnSpc>
                <a:spcPct val="100000"/>
              </a:lnSpc>
              <a:buFont typeface="Calibri"/>
              <a:buChar char="-"/>
              <a:tabLst>
                <a:tab pos="64769" algn="l"/>
              </a:tabLst>
            </a:pPr>
            <a:r>
              <a:rPr sz="800">
                <a:solidFill>
                  <a:srgbClr val="383838"/>
                </a:solidFill>
                <a:latin typeface="맑은 고딕"/>
                <a:cs typeface="맑은 고딕"/>
              </a:rPr>
              <a:t>보건의료</a:t>
            </a:r>
            <a:r>
              <a:rPr sz="800" spc="-114">
                <a:solidFill>
                  <a:srgbClr val="383838"/>
                </a:solidFill>
                <a:latin typeface="맑은 고딕"/>
                <a:cs typeface="맑은 고딕"/>
              </a:rPr>
              <a:t> </a:t>
            </a:r>
            <a:r>
              <a:rPr sz="800">
                <a:solidFill>
                  <a:srgbClr val="383838"/>
                </a:solidFill>
                <a:latin typeface="Calibri"/>
                <a:cs typeface="Calibri"/>
              </a:rPr>
              <a:t>:</a:t>
            </a:r>
            <a:r>
              <a:rPr sz="800" spc="16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8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6"/>
              </a:rPr>
              <a:t>https://opendata.hira.or.kr/op/opc/selectOpnsApiList.do</a:t>
            </a:r>
            <a:endParaRPr sz="800">
              <a:latin typeface="Calibri"/>
              <a:cs typeface="Calibri"/>
            </a:endParaRPr>
          </a:p>
          <a:p>
            <a:pPr marL="64769" indent="-52069">
              <a:lnSpc>
                <a:spcPct val="100000"/>
              </a:lnSpc>
              <a:buFont typeface="Calibri"/>
              <a:buChar char="-"/>
              <a:tabLst>
                <a:tab pos="64769" algn="l"/>
              </a:tabLst>
            </a:pPr>
            <a:r>
              <a:rPr sz="800">
                <a:solidFill>
                  <a:srgbClr val="383838"/>
                </a:solidFill>
                <a:latin typeface="맑은 고딕"/>
                <a:cs typeface="맑은 고딕"/>
              </a:rPr>
              <a:t>지재권분쟁</a:t>
            </a:r>
            <a:r>
              <a:rPr sz="800" spc="-114">
                <a:solidFill>
                  <a:srgbClr val="383838"/>
                </a:solidFill>
                <a:latin typeface="맑은 고딕"/>
                <a:cs typeface="맑은 고딕"/>
              </a:rPr>
              <a:t> </a:t>
            </a:r>
            <a:r>
              <a:rPr sz="800">
                <a:solidFill>
                  <a:srgbClr val="383838"/>
                </a:solidFill>
                <a:latin typeface="Calibri"/>
                <a:cs typeface="Calibri"/>
              </a:rPr>
              <a:t>:</a:t>
            </a:r>
            <a:r>
              <a:rPr sz="800" spc="20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8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7"/>
              </a:rPr>
              <a:t>https://api.ip-navi.or.kr/openapi/devguide/introAp</a:t>
            </a:r>
            <a:r>
              <a:rPr sz="800" u="none" spc="-10">
                <a:solidFill>
                  <a:srgbClr val="0462C1"/>
                </a:solidFill>
                <a:latin typeface="Calibri"/>
                <a:cs typeface="Calibri"/>
                <a:hlinkClick r:id="rId37"/>
              </a:rPr>
              <a:t>i</a:t>
            </a:r>
            <a:endParaRPr sz="800">
              <a:latin typeface="Calibri"/>
              <a:cs typeface="Calibri"/>
            </a:endParaRPr>
          </a:p>
          <a:p>
            <a:pPr marL="64769" indent="-52069">
              <a:lnSpc>
                <a:spcPct val="100000"/>
              </a:lnSpc>
              <a:buFont typeface="Calibri"/>
              <a:buChar char="-"/>
              <a:tabLst>
                <a:tab pos="64769" algn="l"/>
              </a:tabLst>
            </a:pPr>
            <a:r>
              <a:rPr sz="800">
                <a:solidFill>
                  <a:srgbClr val="383838"/>
                </a:solidFill>
                <a:latin typeface="맑은 고딕"/>
                <a:cs typeface="맑은 고딕"/>
              </a:rPr>
              <a:t>건축데이터</a:t>
            </a:r>
            <a:r>
              <a:rPr sz="800" spc="-130">
                <a:solidFill>
                  <a:srgbClr val="383838"/>
                </a:solidFill>
                <a:latin typeface="맑은 고딕"/>
                <a:cs typeface="맑은 고딕"/>
              </a:rPr>
              <a:t> </a:t>
            </a:r>
            <a:r>
              <a:rPr sz="800">
                <a:solidFill>
                  <a:srgbClr val="383838"/>
                </a:solidFill>
                <a:latin typeface="Calibri"/>
                <a:cs typeface="Calibri"/>
              </a:rPr>
              <a:t>:</a:t>
            </a:r>
            <a:r>
              <a:rPr sz="800" spc="16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8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8"/>
              </a:rPr>
              <a:t>http://open.eais.go.kr/</a:t>
            </a:r>
            <a:endParaRPr sz="800">
              <a:latin typeface="Calibri"/>
              <a:cs typeface="Calibri"/>
            </a:endParaRPr>
          </a:p>
          <a:p>
            <a:pPr marL="64769" indent="-52069">
              <a:lnSpc>
                <a:spcPct val="100000"/>
              </a:lnSpc>
              <a:buFont typeface="Calibri"/>
              <a:buChar char="-"/>
              <a:tabLst>
                <a:tab pos="64769" algn="l"/>
              </a:tabLst>
            </a:pPr>
            <a:r>
              <a:rPr sz="800">
                <a:solidFill>
                  <a:srgbClr val="383838"/>
                </a:solidFill>
                <a:latin typeface="맑은 고딕"/>
                <a:cs typeface="맑은 고딕"/>
              </a:rPr>
              <a:t>개방해</a:t>
            </a:r>
            <a:r>
              <a:rPr sz="800" spc="-114">
                <a:solidFill>
                  <a:srgbClr val="383838"/>
                </a:solidFill>
                <a:latin typeface="맑은 고딕"/>
                <a:cs typeface="맑은 고딕"/>
              </a:rPr>
              <a:t> </a:t>
            </a:r>
            <a:r>
              <a:rPr sz="800">
                <a:solidFill>
                  <a:srgbClr val="383838"/>
                </a:solidFill>
                <a:latin typeface="Calibri"/>
                <a:cs typeface="Calibri"/>
              </a:rPr>
              <a:t>:</a:t>
            </a:r>
            <a:r>
              <a:rPr sz="800" spc="16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8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9"/>
              </a:rPr>
              <a:t>http://www.khoa.go.kr/oceanmap/apiguide/html/chapter01.htm</a:t>
            </a:r>
            <a:r>
              <a:rPr sz="800" u="none" spc="-10">
                <a:solidFill>
                  <a:srgbClr val="0462C1"/>
                </a:solidFill>
                <a:latin typeface="Calibri"/>
                <a:cs typeface="Calibri"/>
                <a:hlinkClick r:id="rId39"/>
              </a:rPr>
              <a:t>l</a:t>
            </a:r>
            <a:endParaRPr sz="800">
              <a:latin typeface="Calibri"/>
              <a:cs typeface="Calibri"/>
            </a:endParaRPr>
          </a:p>
          <a:p>
            <a:pPr marL="64769" indent="-52069">
              <a:lnSpc>
                <a:spcPct val="100000"/>
              </a:lnSpc>
              <a:buFont typeface="Calibri"/>
              <a:buChar char="-"/>
              <a:tabLst>
                <a:tab pos="64769" algn="l"/>
              </a:tabLst>
            </a:pPr>
            <a:r>
              <a:rPr sz="800">
                <a:solidFill>
                  <a:srgbClr val="383838"/>
                </a:solidFill>
                <a:latin typeface="맑은 고딕"/>
                <a:cs typeface="맑은 고딕"/>
              </a:rPr>
              <a:t>광명시</a:t>
            </a:r>
            <a:r>
              <a:rPr sz="800" spc="-114">
                <a:solidFill>
                  <a:srgbClr val="383838"/>
                </a:solidFill>
                <a:latin typeface="맑은 고딕"/>
                <a:cs typeface="맑은 고딕"/>
              </a:rPr>
              <a:t> </a:t>
            </a:r>
            <a:r>
              <a:rPr sz="800">
                <a:solidFill>
                  <a:srgbClr val="383838"/>
                </a:solidFill>
                <a:latin typeface="Calibri"/>
                <a:cs typeface="Calibri"/>
              </a:rPr>
              <a:t>:</a:t>
            </a:r>
            <a:r>
              <a:rPr sz="800" spc="16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8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0"/>
              </a:rPr>
              <a:t>http://data.gm.go.kr/portal/mainPage.do;jsessionid=7F81A5820FC8CBA70FC7FF8FF1D54698</a:t>
            </a:r>
            <a:endParaRPr sz="800">
              <a:latin typeface="Calibri"/>
              <a:cs typeface="Calibri"/>
            </a:endParaRPr>
          </a:p>
          <a:p>
            <a:pPr marL="64769" indent="-52069">
              <a:lnSpc>
                <a:spcPct val="100000"/>
              </a:lnSpc>
              <a:buFont typeface="Calibri"/>
              <a:buChar char="-"/>
              <a:tabLst>
                <a:tab pos="64769" algn="l"/>
              </a:tabLst>
            </a:pPr>
            <a:r>
              <a:rPr sz="800">
                <a:solidFill>
                  <a:srgbClr val="383838"/>
                </a:solidFill>
                <a:latin typeface="맑은 고딕"/>
                <a:cs typeface="맑은 고딕"/>
              </a:rPr>
              <a:t>국토부</a:t>
            </a:r>
            <a:r>
              <a:rPr sz="800" spc="-114">
                <a:solidFill>
                  <a:srgbClr val="383838"/>
                </a:solidFill>
                <a:latin typeface="맑은 고딕"/>
                <a:cs typeface="맑은 고딕"/>
              </a:rPr>
              <a:t> </a:t>
            </a:r>
            <a:r>
              <a:rPr sz="800">
                <a:solidFill>
                  <a:srgbClr val="383838"/>
                </a:solidFill>
                <a:latin typeface="맑은 고딕"/>
                <a:cs typeface="맑은 고딕"/>
              </a:rPr>
              <a:t>교통정보</a:t>
            </a:r>
            <a:r>
              <a:rPr sz="800" spc="-130">
                <a:solidFill>
                  <a:srgbClr val="383838"/>
                </a:solidFill>
                <a:latin typeface="맑은 고딕"/>
                <a:cs typeface="맑은 고딕"/>
              </a:rPr>
              <a:t> </a:t>
            </a:r>
            <a:r>
              <a:rPr sz="800">
                <a:solidFill>
                  <a:srgbClr val="383838"/>
                </a:solidFill>
                <a:latin typeface="Calibri"/>
                <a:cs typeface="Calibri"/>
              </a:rPr>
              <a:t>:</a:t>
            </a:r>
            <a:r>
              <a:rPr sz="800" spc="16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8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1"/>
              </a:rPr>
              <a:t>http://openapi.its.go.kr/</a:t>
            </a:r>
            <a:endParaRPr sz="800">
              <a:latin typeface="Calibri"/>
              <a:cs typeface="Calibri"/>
            </a:endParaRPr>
          </a:p>
          <a:p>
            <a:pPr marL="64769" indent="-52069">
              <a:lnSpc>
                <a:spcPct val="100000"/>
              </a:lnSpc>
              <a:buFont typeface="Calibri"/>
              <a:buChar char="-"/>
              <a:tabLst>
                <a:tab pos="64769" algn="l"/>
              </a:tabLst>
            </a:pPr>
            <a:r>
              <a:rPr sz="800" spc="-10">
                <a:solidFill>
                  <a:srgbClr val="383838"/>
                </a:solidFill>
                <a:latin typeface="맑은 고딕"/>
                <a:cs typeface="맑은 고딕"/>
              </a:rPr>
              <a:t>기상청</a:t>
            </a:r>
            <a:r>
              <a:rPr sz="800" spc="-114">
                <a:solidFill>
                  <a:srgbClr val="383838"/>
                </a:solidFill>
                <a:latin typeface="맑은 고딕"/>
                <a:cs typeface="맑은 고딕"/>
              </a:rPr>
              <a:t> </a:t>
            </a:r>
            <a:r>
              <a:rPr sz="800">
                <a:solidFill>
                  <a:srgbClr val="383838"/>
                </a:solidFill>
                <a:latin typeface="Calibri"/>
                <a:cs typeface="Calibri"/>
              </a:rPr>
              <a:t>:</a:t>
            </a:r>
            <a:r>
              <a:rPr sz="800" spc="175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8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2"/>
              </a:rPr>
              <a:t>https://data.kma.go.kr/api/selectApiList.do?pgmNo=42</a:t>
            </a:r>
            <a:endParaRPr sz="800">
              <a:latin typeface="Calibri"/>
              <a:cs typeface="Calibri"/>
            </a:endParaRPr>
          </a:p>
          <a:p>
            <a:pPr marL="64769" indent="-52069">
              <a:lnSpc>
                <a:spcPct val="100000"/>
              </a:lnSpc>
              <a:buFont typeface="Calibri"/>
              <a:buChar char="-"/>
              <a:tabLst>
                <a:tab pos="64769" algn="l"/>
              </a:tabLst>
            </a:pPr>
            <a:r>
              <a:rPr sz="800">
                <a:solidFill>
                  <a:srgbClr val="383838"/>
                </a:solidFill>
                <a:latin typeface="맑은 고딕"/>
                <a:cs typeface="맑은 고딕"/>
              </a:rPr>
              <a:t>다나와</a:t>
            </a:r>
            <a:r>
              <a:rPr sz="800" spc="-114">
                <a:solidFill>
                  <a:srgbClr val="383838"/>
                </a:solidFill>
                <a:latin typeface="맑은 고딕"/>
                <a:cs typeface="맑은 고딕"/>
              </a:rPr>
              <a:t> </a:t>
            </a:r>
            <a:r>
              <a:rPr sz="800">
                <a:solidFill>
                  <a:srgbClr val="383838"/>
                </a:solidFill>
                <a:latin typeface="Calibri"/>
                <a:cs typeface="Calibri"/>
              </a:rPr>
              <a:t>:</a:t>
            </a:r>
            <a:r>
              <a:rPr sz="800" spc="16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8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3"/>
              </a:rPr>
              <a:t>https://www.apistore.co.kr/generalApi/generalApiView.do?general_service_seq=63</a:t>
            </a:r>
            <a:endParaRPr sz="800">
              <a:latin typeface="Calibri"/>
              <a:cs typeface="Calibri"/>
            </a:endParaRPr>
          </a:p>
          <a:p>
            <a:pPr marL="64769" indent="-52069">
              <a:lnSpc>
                <a:spcPct val="100000"/>
              </a:lnSpc>
              <a:buFont typeface="Calibri"/>
              <a:buChar char="-"/>
              <a:tabLst>
                <a:tab pos="64769" algn="l"/>
              </a:tabLst>
            </a:pPr>
            <a:r>
              <a:rPr sz="800">
                <a:solidFill>
                  <a:srgbClr val="383838"/>
                </a:solidFill>
                <a:latin typeface="맑은 고딕"/>
                <a:cs typeface="맑은 고딕"/>
              </a:rPr>
              <a:t>데이터안심구역</a:t>
            </a:r>
            <a:r>
              <a:rPr sz="800" spc="-130">
                <a:solidFill>
                  <a:srgbClr val="383838"/>
                </a:solidFill>
                <a:latin typeface="맑은 고딕"/>
                <a:cs typeface="맑은 고딕"/>
              </a:rPr>
              <a:t> </a:t>
            </a:r>
            <a:r>
              <a:rPr sz="800">
                <a:solidFill>
                  <a:srgbClr val="383838"/>
                </a:solidFill>
                <a:latin typeface="Calibri"/>
                <a:cs typeface="Calibri"/>
              </a:rPr>
              <a:t>:</a:t>
            </a:r>
            <a:r>
              <a:rPr sz="800" spc="16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8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4"/>
              </a:rPr>
              <a:t>http://datakorea.datastore.or.kr/</a:t>
            </a:r>
            <a:endParaRPr sz="800">
              <a:latin typeface="Calibri"/>
              <a:cs typeface="Calibri"/>
            </a:endParaRPr>
          </a:p>
          <a:p>
            <a:pPr marL="64769" indent="-52069">
              <a:lnSpc>
                <a:spcPct val="100000"/>
              </a:lnSpc>
              <a:buFont typeface="Calibri"/>
              <a:buChar char="-"/>
              <a:tabLst>
                <a:tab pos="64769" algn="l"/>
              </a:tabLst>
            </a:pPr>
            <a:r>
              <a:rPr sz="800">
                <a:solidFill>
                  <a:srgbClr val="383838"/>
                </a:solidFill>
                <a:latin typeface="맑은 고딕"/>
                <a:cs typeface="맑은 고딕"/>
              </a:rPr>
              <a:t>중소기업</a:t>
            </a:r>
            <a:r>
              <a:rPr sz="800" spc="-114">
                <a:solidFill>
                  <a:srgbClr val="383838"/>
                </a:solidFill>
                <a:latin typeface="맑은 고딕"/>
                <a:cs typeface="맑은 고딕"/>
              </a:rPr>
              <a:t> </a:t>
            </a:r>
            <a:r>
              <a:rPr sz="800">
                <a:solidFill>
                  <a:srgbClr val="383838"/>
                </a:solidFill>
                <a:latin typeface="맑은 고딕"/>
                <a:cs typeface="맑은 고딕"/>
              </a:rPr>
              <a:t>현황</a:t>
            </a:r>
            <a:r>
              <a:rPr sz="800" spc="-114">
                <a:solidFill>
                  <a:srgbClr val="383838"/>
                </a:solidFill>
                <a:latin typeface="맑은 고딕"/>
                <a:cs typeface="맑은 고딕"/>
              </a:rPr>
              <a:t> </a:t>
            </a:r>
            <a:r>
              <a:rPr sz="800">
                <a:solidFill>
                  <a:srgbClr val="383838"/>
                </a:solidFill>
                <a:latin typeface="Calibri"/>
                <a:cs typeface="Calibri"/>
              </a:rPr>
              <a:t>:</a:t>
            </a:r>
            <a:r>
              <a:rPr sz="800" spc="16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8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5"/>
              </a:rPr>
              <a:t>https://sminfo.mss.go.kr/cm/sv/CSV001R0.do</a:t>
            </a:r>
            <a:endParaRPr sz="800">
              <a:latin typeface="Calibri"/>
              <a:cs typeface="Calibri"/>
            </a:endParaRPr>
          </a:p>
          <a:p>
            <a:pPr marL="64769" indent="-52069">
              <a:lnSpc>
                <a:spcPct val="100000"/>
              </a:lnSpc>
              <a:buChar char="-"/>
              <a:tabLst>
                <a:tab pos="64769" algn="l"/>
              </a:tabLst>
            </a:pPr>
            <a:r>
              <a:rPr sz="800">
                <a:solidFill>
                  <a:srgbClr val="383838"/>
                </a:solidFill>
                <a:latin typeface="Calibri"/>
                <a:cs typeface="Calibri"/>
              </a:rPr>
              <a:t>API</a:t>
            </a:r>
            <a:r>
              <a:rPr sz="800">
                <a:solidFill>
                  <a:srgbClr val="383838"/>
                </a:solidFill>
                <a:latin typeface="맑은 고딕"/>
                <a:cs typeface="맑은 고딕"/>
              </a:rPr>
              <a:t>거래소</a:t>
            </a:r>
            <a:r>
              <a:rPr sz="800" spc="-130">
                <a:solidFill>
                  <a:srgbClr val="383838"/>
                </a:solidFill>
                <a:latin typeface="맑은 고딕"/>
                <a:cs typeface="맑은 고딕"/>
              </a:rPr>
              <a:t> </a:t>
            </a:r>
            <a:r>
              <a:rPr sz="800">
                <a:solidFill>
                  <a:srgbClr val="383838"/>
                </a:solidFill>
                <a:latin typeface="맑은 고딕"/>
                <a:cs typeface="맑은 고딕"/>
              </a:rPr>
              <a:t>쿠콘</a:t>
            </a:r>
            <a:r>
              <a:rPr sz="800" spc="-130">
                <a:solidFill>
                  <a:srgbClr val="383838"/>
                </a:solidFill>
                <a:latin typeface="맑은 고딕"/>
                <a:cs typeface="맑은 고딕"/>
              </a:rPr>
              <a:t> </a:t>
            </a:r>
            <a:r>
              <a:rPr sz="800">
                <a:solidFill>
                  <a:srgbClr val="383838"/>
                </a:solidFill>
                <a:latin typeface="Calibri"/>
                <a:cs typeface="Calibri"/>
              </a:rPr>
              <a:t>:</a:t>
            </a:r>
            <a:r>
              <a:rPr sz="800" spc="16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8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6"/>
              </a:rPr>
              <a:t>https://www.coocon.net/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02682" y="1061973"/>
            <a:ext cx="4527550" cy="56330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3340" indent="-40640">
              <a:lnSpc>
                <a:spcPct val="100000"/>
              </a:lnSpc>
              <a:spcBef>
                <a:spcPts val="100"/>
              </a:spcBef>
              <a:buFont typeface="Calibri"/>
              <a:buChar char="-"/>
              <a:tabLst>
                <a:tab pos="53340" algn="l"/>
              </a:tabLst>
            </a:pPr>
            <a:r>
              <a:rPr sz="600">
                <a:solidFill>
                  <a:srgbClr val="383838"/>
                </a:solidFill>
                <a:latin typeface="맑은 고딕"/>
                <a:cs typeface="맑은 고딕"/>
              </a:rPr>
              <a:t>구글</a:t>
            </a:r>
            <a:r>
              <a:rPr sz="600" spc="-70">
                <a:solidFill>
                  <a:srgbClr val="383838"/>
                </a:solidFill>
                <a:latin typeface="맑은 고딕"/>
                <a:cs typeface="맑은 고딕"/>
              </a:rPr>
              <a:t> </a:t>
            </a:r>
            <a:r>
              <a:rPr sz="600">
                <a:solidFill>
                  <a:srgbClr val="383838"/>
                </a:solidFill>
                <a:latin typeface="맑은 고딕"/>
                <a:cs typeface="맑은 고딕"/>
              </a:rPr>
              <a:t>공공데이터</a:t>
            </a:r>
            <a:r>
              <a:rPr sz="600" spc="-80">
                <a:solidFill>
                  <a:srgbClr val="383838"/>
                </a:solidFill>
                <a:latin typeface="맑은 고딕"/>
                <a:cs typeface="맑은 고딕"/>
              </a:rPr>
              <a:t> </a:t>
            </a:r>
            <a:r>
              <a:rPr sz="600">
                <a:solidFill>
                  <a:srgbClr val="383838"/>
                </a:solidFill>
                <a:latin typeface="맑은 고딕"/>
                <a:cs typeface="맑은 고딕"/>
              </a:rPr>
              <a:t>폴더</a:t>
            </a:r>
            <a:r>
              <a:rPr sz="600" spc="-80">
                <a:solidFill>
                  <a:srgbClr val="383838"/>
                </a:solidFill>
                <a:latin typeface="맑은 고딕"/>
                <a:cs typeface="맑은 고딕"/>
              </a:rPr>
              <a:t> </a:t>
            </a:r>
            <a:r>
              <a:rPr sz="600">
                <a:solidFill>
                  <a:srgbClr val="383838"/>
                </a:solidFill>
                <a:latin typeface="Calibri"/>
                <a:cs typeface="Calibri"/>
              </a:rPr>
              <a:t>:</a:t>
            </a:r>
            <a:r>
              <a:rPr sz="600" spc="-5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6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7"/>
              </a:rPr>
              <a:t>https://www.google.com/publicdata/directory</a:t>
            </a:r>
            <a:endParaRPr sz="600">
              <a:latin typeface="Calibri"/>
              <a:cs typeface="Calibri"/>
            </a:endParaRPr>
          </a:p>
          <a:p>
            <a:pPr marL="53340" indent="-40640">
              <a:lnSpc>
                <a:spcPct val="100000"/>
              </a:lnSpc>
              <a:buFont typeface="Calibri"/>
              <a:buChar char="-"/>
              <a:tabLst>
                <a:tab pos="53340" algn="l"/>
              </a:tabLst>
            </a:pPr>
            <a:r>
              <a:rPr sz="600">
                <a:solidFill>
                  <a:srgbClr val="383838"/>
                </a:solidFill>
                <a:latin typeface="맑은 고딕"/>
                <a:cs typeface="맑은 고딕"/>
              </a:rPr>
              <a:t>구글트렌드</a:t>
            </a:r>
            <a:r>
              <a:rPr sz="600" spc="-70">
                <a:solidFill>
                  <a:srgbClr val="383838"/>
                </a:solidFill>
                <a:latin typeface="맑은 고딕"/>
                <a:cs typeface="맑은 고딕"/>
              </a:rPr>
              <a:t> </a:t>
            </a:r>
            <a:r>
              <a:rPr sz="600">
                <a:solidFill>
                  <a:srgbClr val="383838"/>
                </a:solidFill>
                <a:latin typeface="Calibri"/>
                <a:cs typeface="Calibri"/>
              </a:rPr>
              <a:t>:</a:t>
            </a:r>
            <a:r>
              <a:rPr sz="600" spc="-5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6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8"/>
              </a:rPr>
              <a:t>https://trends.google.com/trends/explore</a:t>
            </a:r>
            <a:endParaRPr sz="600">
              <a:latin typeface="Calibri"/>
              <a:cs typeface="Calibri"/>
            </a:endParaRPr>
          </a:p>
          <a:p>
            <a:pPr marL="53340" indent="-40640">
              <a:lnSpc>
                <a:spcPct val="100000"/>
              </a:lnSpc>
              <a:buFont typeface="Calibri"/>
              <a:buChar char="-"/>
              <a:tabLst>
                <a:tab pos="53340" algn="l"/>
              </a:tabLst>
            </a:pPr>
            <a:r>
              <a:rPr sz="600">
                <a:solidFill>
                  <a:srgbClr val="383838"/>
                </a:solidFill>
                <a:latin typeface="맑은 고딕"/>
                <a:cs typeface="맑은 고딕"/>
              </a:rPr>
              <a:t>월드뱅크</a:t>
            </a:r>
            <a:r>
              <a:rPr sz="600" spc="-70">
                <a:solidFill>
                  <a:srgbClr val="383838"/>
                </a:solidFill>
                <a:latin typeface="맑은 고딕"/>
                <a:cs typeface="맑은 고딕"/>
              </a:rPr>
              <a:t> </a:t>
            </a:r>
            <a:r>
              <a:rPr sz="600">
                <a:solidFill>
                  <a:srgbClr val="383838"/>
                </a:solidFill>
                <a:latin typeface="Calibri"/>
                <a:cs typeface="Calibri"/>
              </a:rPr>
              <a:t>:</a:t>
            </a:r>
            <a:r>
              <a:rPr sz="600" spc="-5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6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9"/>
              </a:rPr>
              <a:t>https://data.worldbank.org/</a:t>
            </a:r>
            <a:endParaRPr sz="600">
              <a:latin typeface="Calibri"/>
              <a:cs typeface="Calibri"/>
            </a:endParaRPr>
          </a:p>
          <a:p>
            <a:pPr marL="53340" indent="-40640">
              <a:lnSpc>
                <a:spcPct val="100000"/>
              </a:lnSpc>
              <a:buChar char="-"/>
              <a:tabLst>
                <a:tab pos="53340" algn="l"/>
              </a:tabLst>
            </a:pPr>
            <a:r>
              <a:rPr sz="600">
                <a:solidFill>
                  <a:srgbClr val="383838"/>
                </a:solidFill>
                <a:latin typeface="Calibri"/>
                <a:cs typeface="Calibri"/>
              </a:rPr>
              <a:t>WHO</a:t>
            </a:r>
            <a:r>
              <a:rPr sz="600" spc="-5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600">
                <a:solidFill>
                  <a:srgbClr val="383838"/>
                </a:solidFill>
                <a:latin typeface="Calibri"/>
                <a:cs typeface="Calibri"/>
              </a:rPr>
              <a:t>:</a:t>
            </a:r>
            <a:r>
              <a:rPr sz="600" spc="-15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6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0"/>
              </a:rPr>
              <a:t>https://www.who.int/gho/database/en/</a:t>
            </a:r>
            <a:endParaRPr sz="600">
              <a:latin typeface="Calibri"/>
              <a:cs typeface="Calibri"/>
            </a:endParaRPr>
          </a:p>
          <a:p>
            <a:pPr marL="53340" indent="-40640">
              <a:lnSpc>
                <a:spcPct val="100000"/>
              </a:lnSpc>
              <a:buChar char="-"/>
              <a:tabLst>
                <a:tab pos="53340" algn="l"/>
              </a:tabLst>
            </a:pPr>
            <a:r>
              <a:rPr sz="600">
                <a:solidFill>
                  <a:srgbClr val="383838"/>
                </a:solidFill>
                <a:latin typeface="Calibri"/>
                <a:cs typeface="Calibri"/>
              </a:rPr>
              <a:t>Health</a:t>
            </a:r>
            <a:r>
              <a:rPr sz="600" spc="-15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600">
                <a:solidFill>
                  <a:srgbClr val="383838"/>
                </a:solidFill>
                <a:latin typeface="Calibri"/>
                <a:cs typeface="Calibri"/>
              </a:rPr>
              <a:t>data</a:t>
            </a:r>
            <a:r>
              <a:rPr sz="600" spc="-15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600">
                <a:solidFill>
                  <a:srgbClr val="383838"/>
                </a:solidFill>
                <a:latin typeface="Calibri"/>
                <a:cs typeface="Calibri"/>
              </a:rPr>
              <a:t>:</a:t>
            </a:r>
            <a:r>
              <a:rPr sz="600" spc="-1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6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1"/>
              </a:rPr>
              <a:t>https://healthdata.gov/</a:t>
            </a:r>
            <a:endParaRPr sz="600">
              <a:latin typeface="Calibri"/>
              <a:cs typeface="Calibri"/>
            </a:endParaRPr>
          </a:p>
          <a:p>
            <a:pPr marL="53340" indent="-40640">
              <a:lnSpc>
                <a:spcPct val="100000"/>
              </a:lnSpc>
              <a:buChar char="-"/>
              <a:tabLst>
                <a:tab pos="53340" algn="l"/>
              </a:tabLst>
            </a:pPr>
            <a:r>
              <a:rPr sz="600">
                <a:solidFill>
                  <a:srgbClr val="383838"/>
                </a:solidFill>
                <a:latin typeface="Calibri"/>
                <a:cs typeface="Calibri"/>
              </a:rPr>
              <a:t>World</a:t>
            </a:r>
            <a:r>
              <a:rPr sz="600" spc="14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600" spc="-10">
                <a:solidFill>
                  <a:srgbClr val="383838"/>
                </a:solidFill>
                <a:latin typeface="Calibri"/>
                <a:cs typeface="Calibri"/>
              </a:rPr>
              <a:t>Factbook</a:t>
            </a:r>
            <a:r>
              <a:rPr sz="600" spc="7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600">
                <a:solidFill>
                  <a:srgbClr val="383838"/>
                </a:solidFill>
                <a:latin typeface="Calibri"/>
                <a:cs typeface="Calibri"/>
              </a:rPr>
              <a:t>:</a:t>
            </a:r>
            <a:r>
              <a:rPr sz="600" spc="10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6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2"/>
              </a:rPr>
              <a:t>https://www.cia.gov/library/publications/the-world-factbook/</a:t>
            </a:r>
            <a:endParaRPr sz="600">
              <a:latin typeface="Calibri"/>
              <a:cs typeface="Calibri"/>
            </a:endParaRPr>
          </a:p>
          <a:p>
            <a:pPr marL="53340" indent="-40640">
              <a:lnSpc>
                <a:spcPct val="100000"/>
              </a:lnSpc>
              <a:buChar char="-"/>
              <a:tabLst>
                <a:tab pos="53340" algn="l"/>
              </a:tabLst>
            </a:pPr>
            <a:r>
              <a:rPr sz="600">
                <a:solidFill>
                  <a:srgbClr val="383838"/>
                </a:solidFill>
                <a:latin typeface="Calibri"/>
                <a:cs typeface="Calibri"/>
              </a:rPr>
              <a:t>Altmetric</a:t>
            </a:r>
            <a:r>
              <a:rPr sz="600" spc="-2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600">
                <a:solidFill>
                  <a:srgbClr val="383838"/>
                </a:solidFill>
                <a:latin typeface="Calibri"/>
                <a:cs typeface="Calibri"/>
              </a:rPr>
              <a:t>:</a:t>
            </a:r>
            <a:r>
              <a:rPr sz="600" spc="-15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6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3"/>
              </a:rPr>
              <a:t>https://www.altmetric.com/top100/2018/</a:t>
            </a:r>
            <a:endParaRPr sz="600">
              <a:latin typeface="Calibri"/>
              <a:cs typeface="Calibri"/>
            </a:endParaRPr>
          </a:p>
          <a:p>
            <a:pPr marL="53340" indent="-40640">
              <a:lnSpc>
                <a:spcPct val="100000"/>
              </a:lnSpc>
              <a:buChar char="-"/>
              <a:tabLst>
                <a:tab pos="53340" algn="l"/>
              </a:tabLst>
            </a:pPr>
            <a:r>
              <a:rPr sz="600">
                <a:solidFill>
                  <a:srgbClr val="383838"/>
                </a:solidFill>
                <a:latin typeface="Calibri"/>
                <a:cs typeface="Calibri"/>
              </a:rPr>
              <a:t>Opne</a:t>
            </a:r>
            <a:r>
              <a:rPr sz="600" spc="15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600" spc="-10">
                <a:solidFill>
                  <a:srgbClr val="383838"/>
                </a:solidFill>
                <a:latin typeface="Calibri"/>
                <a:cs typeface="Calibri"/>
              </a:rPr>
              <a:t>Corporates</a:t>
            </a:r>
            <a:r>
              <a:rPr sz="600" spc="2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600">
                <a:solidFill>
                  <a:srgbClr val="383838"/>
                </a:solidFill>
                <a:latin typeface="Calibri"/>
                <a:cs typeface="Calibri"/>
              </a:rPr>
              <a:t>:</a:t>
            </a:r>
            <a:r>
              <a:rPr sz="600" spc="1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6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4"/>
              </a:rPr>
              <a:t>https://opencorporates.com/</a:t>
            </a:r>
            <a:endParaRPr sz="600">
              <a:latin typeface="Calibri"/>
              <a:cs typeface="Calibri"/>
            </a:endParaRPr>
          </a:p>
          <a:p>
            <a:pPr marL="53340" indent="-40640">
              <a:lnSpc>
                <a:spcPct val="100000"/>
              </a:lnSpc>
              <a:buChar char="-"/>
              <a:tabLst>
                <a:tab pos="53340" algn="l"/>
              </a:tabLst>
            </a:pPr>
            <a:r>
              <a:rPr sz="600">
                <a:solidFill>
                  <a:srgbClr val="383838"/>
                </a:solidFill>
                <a:latin typeface="Calibri"/>
                <a:cs typeface="Calibri"/>
              </a:rPr>
              <a:t>NOAA</a:t>
            </a:r>
            <a:r>
              <a:rPr sz="600" spc="95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600">
                <a:solidFill>
                  <a:srgbClr val="383838"/>
                </a:solidFill>
                <a:latin typeface="Calibri"/>
                <a:cs typeface="Calibri"/>
              </a:rPr>
              <a:t>:</a:t>
            </a:r>
            <a:r>
              <a:rPr sz="600" spc="85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6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5"/>
              </a:rPr>
              <a:t>https://www.ncdc.noaa.gov/data-access</a:t>
            </a:r>
            <a:endParaRPr sz="600">
              <a:latin typeface="Calibri"/>
              <a:cs typeface="Calibri"/>
            </a:endParaRPr>
          </a:p>
          <a:p>
            <a:pPr marL="53340" indent="-40640">
              <a:lnSpc>
                <a:spcPct val="100000"/>
              </a:lnSpc>
              <a:buChar char="-"/>
              <a:tabLst>
                <a:tab pos="53340" algn="l"/>
              </a:tabLst>
            </a:pPr>
            <a:r>
              <a:rPr sz="600">
                <a:solidFill>
                  <a:srgbClr val="383838"/>
                </a:solidFill>
                <a:latin typeface="Calibri"/>
                <a:cs typeface="Calibri"/>
              </a:rPr>
              <a:t>Reddit</a:t>
            </a:r>
            <a:r>
              <a:rPr sz="600" spc="-1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600">
                <a:solidFill>
                  <a:srgbClr val="383838"/>
                </a:solidFill>
                <a:latin typeface="Calibri"/>
                <a:cs typeface="Calibri"/>
              </a:rPr>
              <a:t>:</a:t>
            </a:r>
            <a:r>
              <a:rPr sz="600" spc="-1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6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6"/>
              </a:rPr>
              <a:t>https://www.reddit.com/r/datasets</a:t>
            </a:r>
            <a:endParaRPr sz="600">
              <a:latin typeface="Calibri"/>
              <a:cs typeface="Calibri"/>
            </a:endParaRPr>
          </a:p>
          <a:p>
            <a:pPr marL="53340" indent="-40640">
              <a:lnSpc>
                <a:spcPct val="100000"/>
              </a:lnSpc>
              <a:buChar char="-"/>
              <a:tabLst>
                <a:tab pos="53340" algn="l"/>
              </a:tabLst>
            </a:pPr>
            <a:r>
              <a:rPr sz="600">
                <a:solidFill>
                  <a:srgbClr val="383838"/>
                </a:solidFill>
                <a:latin typeface="Calibri"/>
                <a:cs typeface="Calibri"/>
              </a:rPr>
              <a:t>NASA</a:t>
            </a:r>
            <a:r>
              <a:rPr sz="600" spc="-1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600">
                <a:solidFill>
                  <a:srgbClr val="383838"/>
                </a:solidFill>
                <a:latin typeface="Calibri"/>
                <a:cs typeface="Calibri"/>
              </a:rPr>
              <a:t>Earth</a:t>
            </a:r>
            <a:r>
              <a:rPr sz="600" spc="-1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600">
                <a:solidFill>
                  <a:srgbClr val="383838"/>
                </a:solidFill>
                <a:latin typeface="Calibri"/>
                <a:cs typeface="Calibri"/>
              </a:rPr>
              <a:t>Data</a:t>
            </a:r>
            <a:r>
              <a:rPr sz="600" spc="-15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600">
                <a:solidFill>
                  <a:srgbClr val="383838"/>
                </a:solidFill>
                <a:latin typeface="Calibri"/>
                <a:cs typeface="Calibri"/>
              </a:rPr>
              <a:t>:</a:t>
            </a:r>
            <a:r>
              <a:rPr sz="600" spc="-5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6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7"/>
              </a:rPr>
              <a:t>https://earthdata.nasa.gov/?_fsi=BqJ6IiI5</a:t>
            </a:r>
            <a:endParaRPr sz="600">
              <a:latin typeface="Calibri"/>
              <a:cs typeface="Calibri"/>
            </a:endParaRPr>
          </a:p>
          <a:p>
            <a:pPr marL="53340" indent="-40640">
              <a:lnSpc>
                <a:spcPct val="100000"/>
              </a:lnSpc>
              <a:buChar char="-"/>
              <a:tabLst>
                <a:tab pos="53340" algn="l"/>
              </a:tabLst>
            </a:pPr>
            <a:r>
              <a:rPr sz="600" spc="-10">
                <a:solidFill>
                  <a:srgbClr val="383838"/>
                </a:solidFill>
                <a:latin typeface="Calibri"/>
                <a:cs typeface="Calibri"/>
              </a:rPr>
              <a:t>sociaological</a:t>
            </a:r>
            <a:r>
              <a:rPr sz="600" spc="35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600">
                <a:solidFill>
                  <a:srgbClr val="383838"/>
                </a:solidFill>
                <a:latin typeface="Calibri"/>
                <a:cs typeface="Calibri"/>
              </a:rPr>
              <a:t>data</a:t>
            </a:r>
            <a:r>
              <a:rPr sz="600" spc="15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600">
                <a:solidFill>
                  <a:srgbClr val="383838"/>
                </a:solidFill>
                <a:latin typeface="Calibri"/>
                <a:cs typeface="Calibri"/>
              </a:rPr>
              <a:t>:</a:t>
            </a:r>
            <a:r>
              <a:rPr sz="600" spc="2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6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8"/>
              </a:rPr>
              <a:t>https://www.pewinternet.org/datasets/?_fsi=BqJ6IiI5</a:t>
            </a:r>
            <a:endParaRPr sz="600">
              <a:latin typeface="Calibri"/>
              <a:cs typeface="Calibri"/>
            </a:endParaRPr>
          </a:p>
          <a:p>
            <a:pPr marL="53340" indent="-40640">
              <a:lnSpc>
                <a:spcPct val="100000"/>
              </a:lnSpc>
              <a:buFont typeface="Calibri"/>
              <a:buChar char="-"/>
              <a:tabLst>
                <a:tab pos="53340" algn="l"/>
              </a:tabLst>
            </a:pPr>
            <a:r>
              <a:rPr sz="600">
                <a:solidFill>
                  <a:srgbClr val="383838"/>
                </a:solidFill>
                <a:latin typeface="맑은 고딕"/>
                <a:cs typeface="맑은 고딕"/>
              </a:rPr>
              <a:t>질병</a:t>
            </a:r>
            <a:r>
              <a:rPr sz="600" spc="-70">
                <a:solidFill>
                  <a:srgbClr val="383838"/>
                </a:solidFill>
                <a:latin typeface="맑은 고딕"/>
                <a:cs typeface="맑은 고딕"/>
              </a:rPr>
              <a:t> </a:t>
            </a:r>
            <a:r>
              <a:rPr sz="600">
                <a:solidFill>
                  <a:srgbClr val="383838"/>
                </a:solidFill>
                <a:latin typeface="Calibri"/>
                <a:cs typeface="Calibri"/>
              </a:rPr>
              <a:t>:</a:t>
            </a:r>
            <a:r>
              <a:rPr sz="600" spc="-5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6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9"/>
              </a:rPr>
              <a:t>https://www.cdc.gov/datastatistics/index.html</a:t>
            </a:r>
            <a:endParaRPr sz="600">
              <a:latin typeface="Calibri"/>
              <a:cs typeface="Calibri"/>
            </a:endParaRPr>
          </a:p>
          <a:p>
            <a:pPr marL="53340" indent="-40640">
              <a:lnSpc>
                <a:spcPct val="100000"/>
              </a:lnSpc>
              <a:buFont typeface="Calibri"/>
              <a:buChar char="-"/>
              <a:tabLst>
                <a:tab pos="53340" algn="l"/>
              </a:tabLst>
            </a:pPr>
            <a:r>
              <a:rPr sz="600">
                <a:solidFill>
                  <a:srgbClr val="383838"/>
                </a:solidFill>
                <a:latin typeface="맑은 고딕"/>
                <a:cs typeface="맑은 고딕"/>
              </a:rPr>
              <a:t>노동</a:t>
            </a:r>
            <a:r>
              <a:rPr sz="600" spc="-70">
                <a:solidFill>
                  <a:srgbClr val="383838"/>
                </a:solidFill>
                <a:latin typeface="맑은 고딕"/>
                <a:cs typeface="맑은 고딕"/>
              </a:rPr>
              <a:t> </a:t>
            </a:r>
            <a:r>
              <a:rPr sz="600">
                <a:solidFill>
                  <a:srgbClr val="383838"/>
                </a:solidFill>
                <a:latin typeface="Calibri"/>
                <a:cs typeface="Calibri"/>
              </a:rPr>
              <a:t>:</a:t>
            </a:r>
            <a:r>
              <a:rPr sz="600" spc="-5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6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0"/>
              </a:rPr>
              <a:t>https://www.bls.gov/data/</a:t>
            </a:r>
            <a:endParaRPr sz="600">
              <a:latin typeface="Calibri"/>
              <a:cs typeface="Calibri"/>
            </a:endParaRPr>
          </a:p>
          <a:p>
            <a:pPr marL="53340" indent="-40640">
              <a:lnSpc>
                <a:spcPct val="100000"/>
              </a:lnSpc>
              <a:buChar char="-"/>
              <a:tabLst>
                <a:tab pos="53340" algn="l"/>
              </a:tabLst>
            </a:pPr>
            <a:r>
              <a:rPr sz="600">
                <a:solidFill>
                  <a:srgbClr val="383838"/>
                </a:solidFill>
                <a:latin typeface="Calibri"/>
                <a:cs typeface="Calibri"/>
              </a:rPr>
              <a:t>group</a:t>
            </a:r>
            <a:r>
              <a:rPr sz="600" spc="-2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600">
                <a:solidFill>
                  <a:srgbClr val="383838"/>
                </a:solidFill>
                <a:latin typeface="Calibri"/>
                <a:cs typeface="Calibri"/>
              </a:rPr>
              <a:t>lens</a:t>
            </a:r>
            <a:r>
              <a:rPr sz="600" spc="-5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600">
                <a:solidFill>
                  <a:srgbClr val="383838"/>
                </a:solidFill>
                <a:latin typeface="Calibri"/>
                <a:cs typeface="Calibri"/>
              </a:rPr>
              <a:t>:</a:t>
            </a:r>
            <a:r>
              <a:rPr sz="600" spc="-1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6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1"/>
              </a:rPr>
              <a:t>https://grouplens.org/datasets/</a:t>
            </a:r>
            <a:endParaRPr sz="600">
              <a:latin typeface="Calibri"/>
              <a:cs typeface="Calibri"/>
            </a:endParaRPr>
          </a:p>
          <a:p>
            <a:pPr marL="53340" indent="-40640">
              <a:lnSpc>
                <a:spcPct val="100000"/>
              </a:lnSpc>
              <a:buChar char="-"/>
              <a:tabLst>
                <a:tab pos="53340" algn="l"/>
              </a:tabLst>
            </a:pPr>
            <a:r>
              <a:rPr sz="600">
                <a:solidFill>
                  <a:srgbClr val="383838"/>
                </a:solidFill>
                <a:latin typeface="Calibri"/>
                <a:cs typeface="Calibri"/>
              </a:rPr>
              <a:t>RODA</a:t>
            </a:r>
            <a:r>
              <a:rPr sz="600" spc="-15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600">
                <a:solidFill>
                  <a:srgbClr val="383838"/>
                </a:solidFill>
                <a:latin typeface="Calibri"/>
                <a:cs typeface="Calibri"/>
              </a:rPr>
              <a:t>:</a:t>
            </a:r>
            <a:r>
              <a:rPr sz="600" spc="-1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6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2"/>
              </a:rPr>
              <a:t>https://registry.opendata.aws/</a:t>
            </a:r>
            <a:endParaRPr sz="600">
              <a:latin typeface="Calibri"/>
              <a:cs typeface="Calibri"/>
            </a:endParaRPr>
          </a:p>
          <a:p>
            <a:pPr marL="53340" indent="-40640">
              <a:lnSpc>
                <a:spcPct val="100000"/>
              </a:lnSpc>
              <a:buChar char="-"/>
              <a:tabLst>
                <a:tab pos="53340" algn="l"/>
              </a:tabLst>
            </a:pPr>
            <a:r>
              <a:rPr sz="600">
                <a:solidFill>
                  <a:srgbClr val="383838"/>
                </a:solidFill>
                <a:latin typeface="Calibri"/>
                <a:cs typeface="Calibri"/>
              </a:rPr>
              <a:t>EU</a:t>
            </a:r>
            <a:r>
              <a:rPr sz="600" spc="5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600">
                <a:solidFill>
                  <a:srgbClr val="383838"/>
                </a:solidFill>
                <a:latin typeface="Calibri"/>
                <a:cs typeface="Calibri"/>
              </a:rPr>
              <a:t>data portal :</a:t>
            </a:r>
            <a:r>
              <a:rPr sz="600" spc="1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6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3"/>
              </a:rPr>
              <a:t>http://open-data.europa.eu/en/data/</a:t>
            </a:r>
            <a:endParaRPr sz="600">
              <a:latin typeface="Calibri"/>
              <a:cs typeface="Calibri"/>
            </a:endParaRPr>
          </a:p>
          <a:p>
            <a:pPr marL="53340" indent="-40640">
              <a:lnSpc>
                <a:spcPct val="100000"/>
              </a:lnSpc>
              <a:buChar char="-"/>
              <a:tabLst>
                <a:tab pos="53340" algn="l"/>
              </a:tabLst>
            </a:pPr>
            <a:r>
              <a:rPr sz="600" spc="-10">
                <a:solidFill>
                  <a:srgbClr val="383838"/>
                </a:solidFill>
                <a:latin typeface="Calibri"/>
                <a:cs typeface="Calibri"/>
              </a:rPr>
              <a:t>Journalism</a:t>
            </a:r>
            <a:r>
              <a:rPr sz="600" spc="25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600">
                <a:solidFill>
                  <a:srgbClr val="383838"/>
                </a:solidFill>
                <a:latin typeface="Calibri"/>
                <a:cs typeface="Calibri"/>
              </a:rPr>
              <a:t>:</a:t>
            </a:r>
            <a:r>
              <a:rPr sz="600" spc="25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6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4"/>
              </a:rPr>
              <a:t>https://data.fivethirtyeight.com/</a:t>
            </a:r>
            <a:endParaRPr sz="600">
              <a:latin typeface="Calibri"/>
              <a:cs typeface="Calibri"/>
            </a:endParaRPr>
          </a:p>
          <a:p>
            <a:pPr marL="53340" indent="-40640">
              <a:lnSpc>
                <a:spcPct val="100000"/>
              </a:lnSpc>
              <a:buChar char="-"/>
              <a:tabLst>
                <a:tab pos="53340" algn="l"/>
              </a:tabLst>
            </a:pPr>
            <a:r>
              <a:rPr sz="600">
                <a:solidFill>
                  <a:srgbClr val="383838"/>
                </a:solidFill>
                <a:latin typeface="Calibri"/>
                <a:cs typeface="Calibri"/>
              </a:rPr>
              <a:t>US</a:t>
            </a:r>
            <a:r>
              <a:rPr sz="600" spc="-15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600">
                <a:solidFill>
                  <a:srgbClr val="383838"/>
                </a:solidFill>
                <a:latin typeface="Calibri"/>
                <a:cs typeface="Calibri"/>
              </a:rPr>
              <a:t>Census</a:t>
            </a:r>
            <a:r>
              <a:rPr sz="600" spc="-15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600">
                <a:solidFill>
                  <a:srgbClr val="383838"/>
                </a:solidFill>
                <a:latin typeface="Calibri"/>
                <a:cs typeface="Calibri"/>
              </a:rPr>
              <a:t>:</a:t>
            </a:r>
            <a:r>
              <a:rPr sz="600" spc="-1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6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5"/>
              </a:rPr>
              <a:t>http://www.census.gov/data.html</a:t>
            </a:r>
            <a:endParaRPr sz="600">
              <a:latin typeface="Calibri"/>
              <a:cs typeface="Calibri"/>
            </a:endParaRPr>
          </a:p>
          <a:p>
            <a:pPr marL="53340" indent="-40640">
              <a:lnSpc>
                <a:spcPct val="100000"/>
              </a:lnSpc>
              <a:buChar char="-"/>
              <a:tabLst>
                <a:tab pos="53340" algn="l"/>
              </a:tabLst>
            </a:pPr>
            <a:r>
              <a:rPr sz="600">
                <a:solidFill>
                  <a:srgbClr val="383838"/>
                </a:solidFill>
                <a:latin typeface="Calibri"/>
                <a:cs typeface="Calibri"/>
              </a:rPr>
              <a:t>DBpedia</a:t>
            </a:r>
            <a:r>
              <a:rPr sz="600" spc="-15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600">
                <a:solidFill>
                  <a:srgbClr val="383838"/>
                </a:solidFill>
                <a:latin typeface="Calibri"/>
                <a:cs typeface="Calibri"/>
              </a:rPr>
              <a:t>:</a:t>
            </a:r>
            <a:r>
              <a:rPr sz="600" spc="-2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6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6"/>
              </a:rPr>
              <a:t>https://wiki.dbpedia.org/</a:t>
            </a:r>
            <a:endParaRPr sz="600">
              <a:latin typeface="Calibri"/>
              <a:cs typeface="Calibri"/>
            </a:endParaRPr>
          </a:p>
          <a:p>
            <a:pPr marL="53340" indent="-40640">
              <a:lnSpc>
                <a:spcPct val="100000"/>
              </a:lnSpc>
              <a:spcBef>
                <a:spcPts val="5"/>
              </a:spcBef>
              <a:buChar char="-"/>
              <a:tabLst>
                <a:tab pos="53340" algn="l"/>
              </a:tabLst>
            </a:pPr>
            <a:r>
              <a:rPr sz="600">
                <a:solidFill>
                  <a:srgbClr val="383838"/>
                </a:solidFill>
                <a:latin typeface="Calibri"/>
                <a:cs typeface="Calibri"/>
              </a:rPr>
              <a:t>for</a:t>
            </a:r>
            <a:r>
              <a:rPr sz="600" spc="5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600">
                <a:solidFill>
                  <a:srgbClr val="383838"/>
                </a:solidFill>
                <a:latin typeface="Calibri"/>
                <a:cs typeface="Calibri"/>
              </a:rPr>
              <a:t>developer</a:t>
            </a:r>
            <a:r>
              <a:rPr sz="600" spc="55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600">
                <a:solidFill>
                  <a:srgbClr val="383838"/>
                </a:solidFill>
                <a:latin typeface="Calibri"/>
                <a:cs typeface="Calibri"/>
              </a:rPr>
              <a:t>:</a:t>
            </a:r>
            <a:r>
              <a:rPr sz="600" spc="45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6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7"/>
              </a:rPr>
              <a:t>https://github.com/freeCodeCamp/open-</a:t>
            </a:r>
            <a:r>
              <a:rPr sz="600" u="sng" spc="-2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7"/>
              </a:rPr>
              <a:t>data</a:t>
            </a:r>
            <a:endParaRPr sz="600">
              <a:latin typeface="Calibri"/>
              <a:cs typeface="Calibri"/>
            </a:endParaRPr>
          </a:p>
          <a:p>
            <a:pPr marL="53340" indent="-40640">
              <a:lnSpc>
                <a:spcPct val="100000"/>
              </a:lnSpc>
              <a:buChar char="-"/>
              <a:tabLst>
                <a:tab pos="53340" algn="l"/>
              </a:tabLst>
            </a:pPr>
            <a:r>
              <a:rPr sz="600">
                <a:solidFill>
                  <a:srgbClr val="383838"/>
                </a:solidFill>
                <a:latin typeface="Calibri"/>
                <a:cs typeface="Calibri"/>
              </a:rPr>
              <a:t>YELP</a:t>
            </a:r>
            <a:r>
              <a:rPr sz="600" spc="-15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600">
                <a:solidFill>
                  <a:srgbClr val="383838"/>
                </a:solidFill>
                <a:latin typeface="Calibri"/>
                <a:cs typeface="Calibri"/>
              </a:rPr>
              <a:t>:</a:t>
            </a:r>
            <a:r>
              <a:rPr sz="600" spc="-5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6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8"/>
              </a:rPr>
              <a:t>https://www.yelp.com/dataset</a:t>
            </a:r>
            <a:endParaRPr sz="600">
              <a:latin typeface="Calibri"/>
              <a:cs typeface="Calibri"/>
            </a:endParaRPr>
          </a:p>
          <a:p>
            <a:pPr marL="53340" indent="-40640">
              <a:lnSpc>
                <a:spcPct val="100000"/>
              </a:lnSpc>
              <a:buChar char="-"/>
              <a:tabLst>
                <a:tab pos="53340" algn="l"/>
              </a:tabLst>
            </a:pPr>
            <a:r>
              <a:rPr sz="600">
                <a:solidFill>
                  <a:srgbClr val="383838"/>
                </a:solidFill>
                <a:latin typeface="Calibri"/>
                <a:cs typeface="Calibri"/>
              </a:rPr>
              <a:t>UNICEF</a:t>
            </a:r>
            <a:r>
              <a:rPr sz="600" spc="-1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600">
                <a:solidFill>
                  <a:srgbClr val="383838"/>
                </a:solidFill>
                <a:latin typeface="Calibri"/>
                <a:cs typeface="Calibri"/>
              </a:rPr>
              <a:t>:</a:t>
            </a:r>
            <a:r>
              <a:rPr sz="600" spc="-5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6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69"/>
              </a:rPr>
              <a:t>https://data.unicef.org/</a:t>
            </a:r>
            <a:endParaRPr sz="600">
              <a:latin typeface="Calibri"/>
              <a:cs typeface="Calibri"/>
            </a:endParaRPr>
          </a:p>
          <a:p>
            <a:pPr marL="53340" indent="-40640">
              <a:lnSpc>
                <a:spcPct val="100000"/>
              </a:lnSpc>
              <a:buChar char="-"/>
              <a:tabLst>
                <a:tab pos="53340" algn="l"/>
              </a:tabLst>
            </a:pPr>
            <a:r>
              <a:rPr sz="600">
                <a:solidFill>
                  <a:srgbClr val="383838"/>
                </a:solidFill>
                <a:latin typeface="Calibri"/>
                <a:cs typeface="Calibri"/>
              </a:rPr>
              <a:t>Kaggle</a:t>
            </a:r>
            <a:r>
              <a:rPr sz="600" spc="-1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600">
                <a:solidFill>
                  <a:srgbClr val="383838"/>
                </a:solidFill>
                <a:latin typeface="Calibri"/>
                <a:cs typeface="Calibri"/>
              </a:rPr>
              <a:t>:</a:t>
            </a:r>
            <a:r>
              <a:rPr sz="600" spc="-5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6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70"/>
              </a:rPr>
              <a:t>https://www.kaggle.com/datasets</a:t>
            </a:r>
            <a:endParaRPr sz="600">
              <a:latin typeface="Calibri"/>
              <a:cs typeface="Calibri"/>
            </a:endParaRPr>
          </a:p>
          <a:p>
            <a:pPr marL="53340" indent="-40640">
              <a:lnSpc>
                <a:spcPct val="100000"/>
              </a:lnSpc>
              <a:buChar char="-"/>
              <a:tabLst>
                <a:tab pos="53340" algn="l"/>
              </a:tabLst>
            </a:pPr>
            <a:r>
              <a:rPr sz="600">
                <a:solidFill>
                  <a:srgbClr val="383838"/>
                </a:solidFill>
                <a:latin typeface="Calibri"/>
                <a:cs typeface="Calibri"/>
              </a:rPr>
              <a:t>LODUM</a:t>
            </a:r>
            <a:r>
              <a:rPr sz="600" spc="-15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600">
                <a:solidFill>
                  <a:srgbClr val="383838"/>
                </a:solidFill>
                <a:latin typeface="Calibri"/>
                <a:cs typeface="Calibri"/>
              </a:rPr>
              <a:t>:</a:t>
            </a:r>
            <a:r>
              <a:rPr sz="600" spc="-1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6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71"/>
              </a:rPr>
              <a:t>https://lodum.de/</a:t>
            </a:r>
            <a:endParaRPr sz="600">
              <a:latin typeface="Calibri"/>
              <a:cs typeface="Calibri"/>
            </a:endParaRPr>
          </a:p>
          <a:p>
            <a:pPr marL="53340" indent="-40640">
              <a:lnSpc>
                <a:spcPct val="100000"/>
              </a:lnSpc>
              <a:buChar char="-"/>
              <a:tabLst>
                <a:tab pos="53340" algn="l"/>
              </a:tabLst>
            </a:pPr>
            <a:r>
              <a:rPr sz="600">
                <a:solidFill>
                  <a:srgbClr val="383838"/>
                </a:solidFill>
                <a:latin typeface="Calibri"/>
                <a:cs typeface="Calibri"/>
              </a:rPr>
              <a:t>UCI</a:t>
            </a:r>
            <a:r>
              <a:rPr sz="600" spc="-1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600">
                <a:solidFill>
                  <a:srgbClr val="383838"/>
                </a:solidFill>
                <a:latin typeface="Calibri"/>
                <a:cs typeface="Calibri"/>
              </a:rPr>
              <a:t>ML</a:t>
            </a:r>
            <a:r>
              <a:rPr sz="600" spc="-1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600">
                <a:solidFill>
                  <a:srgbClr val="383838"/>
                </a:solidFill>
                <a:latin typeface="Calibri"/>
                <a:cs typeface="Calibri"/>
              </a:rPr>
              <a:t>:</a:t>
            </a:r>
            <a:r>
              <a:rPr sz="600" spc="-5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6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72"/>
              </a:rPr>
              <a:t>https://archive.ics.uci.edu/ml/index.php</a:t>
            </a:r>
            <a:endParaRPr sz="600">
              <a:latin typeface="Calibri"/>
              <a:cs typeface="Calibri"/>
            </a:endParaRPr>
          </a:p>
          <a:p>
            <a:pPr marL="71755" indent="-59055">
              <a:lnSpc>
                <a:spcPct val="100000"/>
              </a:lnSpc>
              <a:buClr>
                <a:srgbClr val="383838"/>
              </a:buClr>
              <a:buChar char="-"/>
              <a:tabLst>
                <a:tab pos="71755" algn="l"/>
              </a:tabLst>
            </a:pPr>
            <a:r>
              <a:rPr sz="6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73"/>
              </a:rPr>
              <a:t>https://dataportals.org/search</a:t>
            </a:r>
            <a:endParaRPr sz="600">
              <a:latin typeface="Calibri"/>
              <a:cs typeface="Calibri"/>
            </a:endParaRPr>
          </a:p>
          <a:p>
            <a:pPr marL="53340" indent="-40640">
              <a:lnSpc>
                <a:spcPts val="715"/>
              </a:lnSpc>
              <a:buFont typeface="Calibri"/>
              <a:buChar char="-"/>
              <a:tabLst>
                <a:tab pos="53340" algn="l"/>
              </a:tabLst>
            </a:pPr>
            <a:r>
              <a:rPr sz="600">
                <a:solidFill>
                  <a:srgbClr val="383838"/>
                </a:solidFill>
                <a:latin typeface="맑은 고딕"/>
                <a:cs typeface="맑은 고딕"/>
              </a:rPr>
              <a:t>데이터목록</a:t>
            </a:r>
            <a:r>
              <a:rPr sz="600" spc="-35">
                <a:solidFill>
                  <a:srgbClr val="383838"/>
                </a:solidFill>
                <a:latin typeface="맑은 고딕"/>
                <a:cs typeface="맑은 고딕"/>
              </a:rPr>
              <a:t> </a:t>
            </a:r>
            <a:r>
              <a:rPr sz="600">
                <a:solidFill>
                  <a:srgbClr val="383838"/>
                </a:solidFill>
                <a:latin typeface="Calibri"/>
                <a:cs typeface="Calibri"/>
              </a:rPr>
              <a:t>:</a:t>
            </a:r>
            <a:r>
              <a:rPr sz="600" spc="204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6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74"/>
              </a:rPr>
              <a:t>https://project-open-data.cio.gov/</a:t>
            </a:r>
            <a:endParaRPr sz="600">
              <a:latin typeface="Calibri"/>
              <a:cs typeface="Calibri"/>
            </a:endParaRPr>
          </a:p>
          <a:p>
            <a:pPr marL="64769" indent="-52069">
              <a:lnSpc>
                <a:spcPts val="950"/>
              </a:lnSpc>
              <a:buChar char="-"/>
              <a:tabLst>
                <a:tab pos="64769" algn="l"/>
              </a:tabLst>
            </a:pPr>
            <a:r>
              <a:rPr sz="800">
                <a:solidFill>
                  <a:srgbClr val="383838"/>
                </a:solidFill>
                <a:latin typeface="Calibri"/>
                <a:cs typeface="Calibri"/>
              </a:rPr>
              <a:t>[IT]</a:t>
            </a:r>
            <a:r>
              <a:rPr sz="800" spc="-1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800">
                <a:solidFill>
                  <a:srgbClr val="383838"/>
                </a:solidFill>
                <a:latin typeface="맑은 고딕"/>
                <a:cs typeface="맑은 고딕"/>
              </a:rPr>
              <a:t>영화드라마</a:t>
            </a:r>
            <a:r>
              <a:rPr sz="800" spc="-130">
                <a:solidFill>
                  <a:srgbClr val="383838"/>
                </a:solidFill>
                <a:latin typeface="맑은 고딕"/>
                <a:cs typeface="맑은 고딕"/>
              </a:rPr>
              <a:t> </a:t>
            </a:r>
            <a:r>
              <a:rPr sz="800">
                <a:solidFill>
                  <a:srgbClr val="383838"/>
                </a:solidFill>
                <a:latin typeface="Calibri"/>
                <a:cs typeface="Calibri"/>
              </a:rPr>
              <a:t>:</a:t>
            </a:r>
            <a:r>
              <a:rPr sz="800" spc="155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8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75"/>
              </a:rPr>
              <a:t>https://www.themoviedb.org/documentation/ap</a:t>
            </a:r>
            <a:r>
              <a:rPr sz="800" u="none" spc="-10">
                <a:solidFill>
                  <a:srgbClr val="0462C1"/>
                </a:solidFill>
                <a:latin typeface="Calibri"/>
                <a:cs typeface="Calibri"/>
                <a:hlinkClick r:id="rId75"/>
              </a:rPr>
              <a:t>i</a:t>
            </a:r>
            <a:endParaRPr sz="800">
              <a:latin typeface="Calibri"/>
              <a:cs typeface="Calibri"/>
            </a:endParaRPr>
          </a:p>
          <a:p>
            <a:pPr marL="64769" indent="-52069">
              <a:lnSpc>
                <a:spcPts val="955"/>
              </a:lnSpc>
              <a:buChar char="-"/>
              <a:tabLst>
                <a:tab pos="64769" algn="l"/>
              </a:tabLst>
            </a:pPr>
            <a:r>
              <a:rPr sz="800">
                <a:solidFill>
                  <a:srgbClr val="383838"/>
                </a:solidFill>
                <a:latin typeface="Calibri"/>
                <a:cs typeface="Calibri"/>
              </a:rPr>
              <a:t>[IN]</a:t>
            </a:r>
            <a:r>
              <a:rPr sz="800" spc="-25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800">
                <a:solidFill>
                  <a:srgbClr val="383838"/>
                </a:solidFill>
                <a:latin typeface="Calibri"/>
                <a:cs typeface="Calibri"/>
              </a:rPr>
              <a:t>open</a:t>
            </a:r>
            <a:r>
              <a:rPr sz="800" spc="-5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800">
                <a:solidFill>
                  <a:srgbClr val="383838"/>
                </a:solidFill>
                <a:latin typeface="Calibri"/>
                <a:cs typeface="Calibri"/>
              </a:rPr>
              <a:t>movie</a:t>
            </a:r>
            <a:r>
              <a:rPr sz="800" spc="-15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800">
                <a:solidFill>
                  <a:srgbClr val="383838"/>
                </a:solidFill>
                <a:latin typeface="Calibri"/>
                <a:cs typeface="Calibri"/>
              </a:rPr>
              <a:t>API</a:t>
            </a:r>
            <a:r>
              <a:rPr sz="800" spc="-15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800">
                <a:solidFill>
                  <a:srgbClr val="383838"/>
                </a:solidFill>
                <a:latin typeface="Calibri"/>
                <a:cs typeface="Calibri"/>
              </a:rPr>
              <a:t>:</a:t>
            </a:r>
            <a:r>
              <a:rPr sz="800" spc="14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8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76"/>
              </a:rPr>
              <a:t>http://omdbapi.com/</a:t>
            </a:r>
            <a:endParaRPr sz="800">
              <a:latin typeface="Calibri"/>
              <a:cs typeface="Calibri"/>
            </a:endParaRPr>
          </a:p>
          <a:p>
            <a:pPr marL="64769" indent="-52069">
              <a:lnSpc>
                <a:spcPct val="100000"/>
              </a:lnSpc>
              <a:spcBef>
                <a:spcPts val="10"/>
              </a:spcBef>
              <a:buChar char="-"/>
              <a:tabLst>
                <a:tab pos="64769" algn="l"/>
              </a:tabLst>
            </a:pPr>
            <a:r>
              <a:rPr sz="800">
                <a:solidFill>
                  <a:srgbClr val="383838"/>
                </a:solidFill>
                <a:latin typeface="Calibri"/>
                <a:cs typeface="Calibri"/>
              </a:rPr>
              <a:t>[US]</a:t>
            </a:r>
            <a:r>
              <a:rPr sz="800" spc="-1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800">
                <a:solidFill>
                  <a:srgbClr val="383838"/>
                </a:solidFill>
                <a:latin typeface="맑은 고딕"/>
                <a:cs typeface="맑은 고딕"/>
              </a:rPr>
              <a:t>미국정부</a:t>
            </a:r>
            <a:r>
              <a:rPr sz="800" spc="-130">
                <a:solidFill>
                  <a:srgbClr val="383838"/>
                </a:solidFill>
                <a:latin typeface="맑은 고딕"/>
                <a:cs typeface="맑은 고딕"/>
              </a:rPr>
              <a:t> </a:t>
            </a:r>
            <a:r>
              <a:rPr sz="800">
                <a:solidFill>
                  <a:srgbClr val="383838"/>
                </a:solidFill>
                <a:latin typeface="Calibri"/>
                <a:cs typeface="Calibri"/>
              </a:rPr>
              <a:t>:</a:t>
            </a:r>
            <a:r>
              <a:rPr sz="800" spc="16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8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77"/>
              </a:rPr>
              <a:t>https://api.data.gov/</a:t>
            </a:r>
            <a:endParaRPr sz="800">
              <a:latin typeface="Calibri"/>
              <a:cs typeface="Calibri"/>
            </a:endParaRPr>
          </a:p>
          <a:p>
            <a:pPr marL="64769" indent="-52069">
              <a:lnSpc>
                <a:spcPct val="100000"/>
              </a:lnSpc>
              <a:buChar char="-"/>
              <a:tabLst>
                <a:tab pos="64769" algn="l"/>
              </a:tabLst>
            </a:pPr>
            <a:r>
              <a:rPr sz="800">
                <a:solidFill>
                  <a:srgbClr val="383838"/>
                </a:solidFill>
                <a:latin typeface="Calibri"/>
                <a:cs typeface="Calibri"/>
              </a:rPr>
              <a:t>[UK]</a:t>
            </a:r>
            <a:r>
              <a:rPr sz="800" spc="114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800">
                <a:solidFill>
                  <a:srgbClr val="383838"/>
                </a:solidFill>
                <a:latin typeface="맑은 고딕"/>
                <a:cs typeface="맑은 고딕"/>
              </a:rPr>
              <a:t>영국정부</a:t>
            </a:r>
            <a:r>
              <a:rPr sz="800" spc="-15">
                <a:solidFill>
                  <a:srgbClr val="383838"/>
                </a:solidFill>
                <a:latin typeface="맑은 고딕"/>
                <a:cs typeface="맑은 고딕"/>
              </a:rPr>
              <a:t> </a:t>
            </a:r>
            <a:r>
              <a:rPr sz="800">
                <a:solidFill>
                  <a:srgbClr val="383838"/>
                </a:solidFill>
                <a:latin typeface="Calibri"/>
                <a:cs typeface="Calibri"/>
              </a:rPr>
              <a:t>:</a:t>
            </a:r>
            <a:r>
              <a:rPr sz="800" spc="40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8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78"/>
              </a:rPr>
              <a:t>https://www.gov.uk/service-manual/technology/application-programming-interfaces-</a:t>
            </a:r>
            <a:r>
              <a:rPr sz="800" u="sng" spc="-2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78"/>
              </a:rPr>
              <a:t>apis</a:t>
            </a:r>
            <a:endParaRPr sz="800">
              <a:latin typeface="Calibri"/>
              <a:cs typeface="Calibri"/>
            </a:endParaRPr>
          </a:p>
          <a:p>
            <a:pPr marL="64769" indent="-52069">
              <a:lnSpc>
                <a:spcPct val="100000"/>
              </a:lnSpc>
              <a:buChar char="-"/>
              <a:tabLst>
                <a:tab pos="64769" algn="l"/>
              </a:tabLst>
            </a:pPr>
            <a:r>
              <a:rPr sz="800">
                <a:solidFill>
                  <a:srgbClr val="383838"/>
                </a:solidFill>
                <a:latin typeface="Calibri"/>
                <a:cs typeface="Calibri"/>
              </a:rPr>
              <a:t>[AU]</a:t>
            </a:r>
            <a:r>
              <a:rPr sz="800" spc="-5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800" spc="-10">
                <a:solidFill>
                  <a:srgbClr val="383838"/>
                </a:solidFill>
                <a:latin typeface="맑은 고딕"/>
                <a:cs typeface="맑은 고딕"/>
              </a:rPr>
              <a:t>호주정부</a:t>
            </a:r>
            <a:r>
              <a:rPr sz="800" spc="-125">
                <a:solidFill>
                  <a:srgbClr val="383838"/>
                </a:solidFill>
                <a:latin typeface="맑은 고딕"/>
                <a:cs typeface="맑은 고딕"/>
              </a:rPr>
              <a:t> </a:t>
            </a:r>
            <a:r>
              <a:rPr sz="800">
                <a:solidFill>
                  <a:srgbClr val="383838"/>
                </a:solidFill>
                <a:latin typeface="Calibri"/>
                <a:cs typeface="Calibri"/>
              </a:rPr>
              <a:t>:</a:t>
            </a:r>
            <a:r>
              <a:rPr sz="800" spc="17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8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79"/>
              </a:rPr>
              <a:t>https://guides.service.gov.au/</a:t>
            </a:r>
            <a:endParaRPr sz="800">
              <a:latin typeface="Calibri"/>
              <a:cs typeface="Calibri"/>
            </a:endParaRPr>
          </a:p>
          <a:p>
            <a:pPr marL="64769" indent="-52069">
              <a:lnSpc>
                <a:spcPct val="100000"/>
              </a:lnSpc>
              <a:spcBef>
                <a:spcPts val="5"/>
              </a:spcBef>
              <a:buChar char="-"/>
              <a:tabLst>
                <a:tab pos="64769" algn="l"/>
              </a:tabLst>
            </a:pPr>
            <a:r>
              <a:rPr sz="800">
                <a:solidFill>
                  <a:srgbClr val="383838"/>
                </a:solidFill>
                <a:latin typeface="Calibri"/>
                <a:cs typeface="Calibri"/>
              </a:rPr>
              <a:t>[DE]</a:t>
            </a:r>
            <a:r>
              <a:rPr sz="800" spc="-15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800">
                <a:solidFill>
                  <a:srgbClr val="383838"/>
                </a:solidFill>
                <a:latin typeface="맑은 고딕"/>
                <a:cs typeface="맑은 고딕"/>
              </a:rPr>
              <a:t>독일정부</a:t>
            </a:r>
            <a:r>
              <a:rPr sz="800" spc="-130">
                <a:solidFill>
                  <a:srgbClr val="383838"/>
                </a:solidFill>
                <a:latin typeface="맑은 고딕"/>
                <a:cs typeface="맑은 고딕"/>
              </a:rPr>
              <a:t> </a:t>
            </a:r>
            <a:r>
              <a:rPr sz="800">
                <a:solidFill>
                  <a:srgbClr val="383838"/>
                </a:solidFill>
                <a:latin typeface="Calibri"/>
                <a:cs typeface="Calibri"/>
              </a:rPr>
              <a:t>:</a:t>
            </a:r>
            <a:r>
              <a:rPr sz="800" spc="-15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800" spc="-10">
                <a:solidFill>
                  <a:srgbClr val="383838"/>
                </a:solidFill>
                <a:latin typeface="Calibri"/>
                <a:cs typeface="Calibri"/>
              </a:rPr>
              <a:t>govdata.de</a:t>
            </a:r>
            <a:endParaRPr sz="800">
              <a:latin typeface="Calibri"/>
              <a:cs typeface="Calibri"/>
            </a:endParaRPr>
          </a:p>
          <a:p>
            <a:pPr marL="64769" indent="-52069">
              <a:lnSpc>
                <a:spcPct val="100000"/>
              </a:lnSpc>
              <a:buChar char="-"/>
              <a:tabLst>
                <a:tab pos="64769" algn="l"/>
              </a:tabLst>
            </a:pPr>
            <a:r>
              <a:rPr sz="800">
                <a:solidFill>
                  <a:srgbClr val="383838"/>
                </a:solidFill>
                <a:latin typeface="Calibri"/>
                <a:cs typeface="Calibri"/>
              </a:rPr>
              <a:t>[FR]</a:t>
            </a:r>
            <a:r>
              <a:rPr sz="800" spc="-2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800">
                <a:solidFill>
                  <a:srgbClr val="383838"/>
                </a:solidFill>
                <a:latin typeface="맑은 고딕"/>
                <a:cs typeface="맑은 고딕"/>
              </a:rPr>
              <a:t>프랑스정부</a:t>
            </a:r>
            <a:r>
              <a:rPr sz="800" spc="-130">
                <a:solidFill>
                  <a:srgbClr val="383838"/>
                </a:solidFill>
                <a:latin typeface="맑은 고딕"/>
                <a:cs typeface="맑은 고딕"/>
              </a:rPr>
              <a:t> </a:t>
            </a:r>
            <a:r>
              <a:rPr sz="800">
                <a:solidFill>
                  <a:srgbClr val="383838"/>
                </a:solidFill>
                <a:latin typeface="Calibri"/>
                <a:cs typeface="Calibri"/>
              </a:rPr>
              <a:t>:</a:t>
            </a:r>
            <a:r>
              <a:rPr sz="800" spc="-5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800" spc="-10">
                <a:solidFill>
                  <a:srgbClr val="383838"/>
                </a:solidFill>
                <a:latin typeface="Calibri"/>
                <a:cs typeface="Calibri"/>
              </a:rPr>
              <a:t>data.gouv.fr</a:t>
            </a:r>
            <a:endParaRPr sz="800">
              <a:latin typeface="Calibri"/>
              <a:cs typeface="Calibri"/>
            </a:endParaRPr>
          </a:p>
          <a:p>
            <a:pPr marL="64769" indent="-52069">
              <a:lnSpc>
                <a:spcPct val="100000"/>
              </a:lnSpc>
              <a:buChar char="-"/>
              <a:tabLst>
                <a:tab pos="64769" algn="l"/>
              </a:tabLst>
            </a:pPr>
            <a:r>
              <a:rPr sz="800">
                <a:solidFill>
                  <a:srgbClr val="383838"/>
                </a:solidFill>
                <a:latin typeface="Calibri"/>
                <a:cs typeface="Calibri"/>
              </a:rPr>
              <a:t>[ES]</a:t>
            </a:r>
            <a:r>
              <a:rPr sz="800" spc="-25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800">
                <a:solidFill>
                  <a:srgbClr val="383838"/>
                </a:solidFill>
                <a:latin typeface="맑은 고딕"/>
                <a:cs typeface="맑은 고딕"/>
              </a:rPr>
              <a:t>에스파니아</a:t>
            </a:r>
            <a:r>
              <a:rPr sz="800" spc="-130">
                <a:solidFill>
                  <a:srgbClr val="383838"/>
                </a:solidFill>
                <a:latin typeface="맑은 고딕"/>
                <a:cs typeface="맑은 고딕"/>
              </a:rPr>
              <a:t> </a:t>
            </a:r>
            <a:r>
              <a:rPr sz="800">
                <a:solidFill>
                  <a:srgbClr val="383838"/>
                </a:solidFill>
                <a:latin typeface="맑은 고딕"/>
                <a:cs typeface="맑은 고딕"/>
              </a:rPr>
              <a:t>정부</a:t>
            </a:r>
            <a:r>
              <a:rPr sz="800" spc="-114">
                <a:solidFill>
                  <a:srgbClr val="383838"/>
                </a:solidFill>
                <a:latin typeface="맑은 고딕"/>
                <a:cs typeface="맑은 고딕"/>
              </a:rPr>
              <a:t> </a:t>
            </a:r>
            <a:r>
              <a:rPr sz="800">
                <a:solidFill>
                  <a:srgbClr val="383838"/>
                </a:solidFill>
                <a:latin typeface="Calibri"/>
                <a:cs typeface="Calibri"/>
              </a:rPr>
              <a:t>:</a:t>
            </a:r>
            <a:r>
              <a:rPr sz="800" spc="-15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800" spc="-10">
                <a:solidFill>
                  <a:srgbClr val="383838"/>
                </a:solidFill>
                <a:latin typeface="Calibri"/>
                <a:cs typeface="Calibri"/>
              </a:rPr>
              <a:t>datos.gob.es</a:t>
            </a:r>
            <a:endParaRPr sz="800">
              <a:latin typeface="Calibri"/>
              <a:cs typeface="Calibri"/>
            </a:endParaRPr>
          </a:p>
          <a:p>
            <a:pPr marL="64769" indent="-52069">
              <a:lnSpc>
                <a:spcPct val="100000"/>
              </a:lnSpc>
              <a:buChar char="-"/>
              <a:tabLst>
                <a:tab pos="64769" algn="l"/>
              </a:tabLst>
            </a:pPr>
            <a:r>
              <a:rPr sz="800">
                <a:solidFill>
                  <a:srgbClr val="383838"/>
                </a:solidFill>
                <a:latin typeface="Calibri"/>
                <a:cs typeface="Calibri"/>
              </a:rPr>
              <a:t>[AT]</a:t>
            </a:r>
            <a:r>
              <a:rPr sz="800" spc="-25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800">
                <a:solidFill>
                  <a:srgbClr val="383838"/>
                </a:solidFill>
                <a:latin typeface="맑은 고딕"/>
                <a:cs typeface="맑은 고딕"/>
              </a:rPr>
              <a:t>오스트리아</a:t>
            </a:r>
            <a:r>
              <a:rPr sz="800" spc="-130">
                <a:solidFill>
                  <a:srgbClr val="383838"/>
                </a:solidFill>
                <a:latin typeface="맑은 고딕"/>
                <a:cs typeface="맑은 고딕"/>
              </a:rPr>
              <a:t> </a:t>
            </a:r>
            <a:r>
              <a:rPr sz="800">
                <a:solidFill>
                  <a:srgbClr val="383838"/>
                </a:solidFill>
                <a:latin typeface="맑은 고딕"/>
                <a:cs typeface="맑은 고딕"/>
              </a:rPr>
              <a:t>정부</a:t>
            </a:r>
            <a:r>
              <a:rPr sz="800" spc="-114">
                <a:solidFill>
                  <a:srgbClr val="383838"/>
                </a:solidFill>
                <a:latin typeface="맑은 고딕"/>
                <a:cs typeface="맑은 고딕"/>
              </a:rPr>
              <a:t> </a:t>
            </a:r>
            <a:r>
              <a:rPr sz="800">
                <a:solidFill>
                  <a:srgbClr val="383838"/>
                </a:solidFill>
                <a:latin typeface="Calibri"/>
                <a:cs typeface="Calibri"/>
              </a:rPr>
              <a:t>: </a:t>
            </a:r>
            <a:r>
              <a:rPr sz="800" spc="-10">
                <a:solidFill>
                  <a:srgbClr val="383838"/>
                </a:solidFill>
                <a:latin typeface="Calibri"/>
                <a:cs typeface="Calibri"/>
              </a:rPr>
              <a:t>data.gv.at</a:t>
            </a:r>
            <a:endParaRPr sz="800">
              <a:latin typeface="Calibri"/>
              <a:cs typeface="Calibri"/>
            </a:endParaRPr>
          </a:p>
          <a:p>
            <a:pPr marL="64769" indent="-52069">
              <a:lnSpc>
                <a:spcPct val="100000"/>
              </a:lnSpc>
              <a:buChar char="-"/>
              <a:tabLst>
                <a:tab pos="64769" algn="l"/>
              </a:tabLst>
            </a:pPr>
            <a:r>
              <a:rPr sz="800">
                <a:solidFill>
                  <a:srgbClr val="383838"/>
                </a:solidFill>
                <a:latin typeface="Calibri"/>
                <a:cs typeface="Calibri"/>
              </a:rPr>
              <a:t>[CA]</a:t>
            </a:r>
            <a:r>
              <a:rPr sz="800" spc="-15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800">
                <a:solidFill>
                  <a:srgbClr val="383838"/>
                </a:solidFill>
                <a:latin typeface="맑은 고딕"/>
                <a:cs typeface="맑은 고딕"/>
              </a:rPr>
              <a:t>캐나다</a:t>
            </a:r>
            <a:r>
              <a:rPr sz="800" spc="-130">
                <a:solidFill>
                  <a:srgbClr val="383838"/>
                </a:solidFill>
                <a:latin typeface="맑은 고딕"/>
                <a:cs typeface="맑은 고딕"/>
              </a:rPr>
              <a:t> </a:t>
            </a:r>
            <a:r>
              <a:rPr sz="800">
                <a:solidFill>
                  <a:srgbClr val="383838"/>
                </a:solidFill>
                <a:latin typeface="맑은 고딕"/>
                <a:cs typeface="맑은 고딕"/>
              </a:rPr>
              <a:t>정부</a:t>
            </a:r>
            <a:r>
              <a:rPr sz="800" spc="-114">
                <a:solidFill>
                  <a:srgbClr val="383838"/>
                </a:solidFill>
                <a:latin typeface="맑은 고딕"/>
                <a:cs typeface="맑은 고딕"/>
              </a:rPr>
              <a:t> </a:t>
            </a:r>
            <a:r>
              <a:rPr sz="800">
                <a:solidFill>
                  <a:srgbClr val="383838"/>
                </a:solidFill>
                <a:latin typeface="Calibri"/>
                <a:cs typeface="Calibri"/>
              </a:rPr>
              <a:t>:</a:t>
            </a:r>
            <a:r>
              <a:rPr sz="800" spc="-15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800" spc="-10">
                <a:solidFill>
                  <a:srgbClr val="383838"/>
                </a:solidFill>
                <a:latin typeface="Calibri"/>
                <a:cs typeface="Calibri"/>
              </a:rPr>
              <a:t>data.gov.au</a:t>
            </a:r>
            <a:endParaRPr sz="800">
              <a:latin typeface="Calibri"/>
              <a:cs typeface="Calibri"/>
            </a:endParaRPr>
          </a:p>
          <a:p>
            <a:pPr marL="64769" indent="-52069">
              <a:lnSpc>
                <a:spcPts val="955"/>
              </a:lnSpc>
              <a:buChar char="-"/>
              <a:tabLst>
                <a:tab pos="64769" algn="l"/>
              </a:tabLst>
            </a:pPr>
            <a:r>
              <a:rPr sz="800">
                <a:solidFill>
                  <a:srgbClr val="383838"/>
                </a:solidFill>
                <a:latin typeface="Calibri"/>
                <a:cs typeface="Calibri"/>
              </a:rPr>
              <a:t>[MX]</a:t>
            </a:r>
            <a:r>
              <a:rPr sz="800" spc="-25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800">
                <a:solidFill>
                  <a:srgbClr val="383838"/>
                </a:solidFill>
                <a:latin typeface="맑은 고딕"/>
                <a:cs typeface="맑은 고딕"/>
              </a:rPr>
              <a:t>멕시코</a:t>
            </a:r>
            <a:r>
              <a:rPr sz="800" spc="-114">
                <a:solidFill>
                  <a:srgbClr val="383838"/>
                </a:solidFill>
                <a:latin typeface="맑은 고딕"/>
                <a:cs typeface="맑은 고딕"/>
              </a:rPr>
              <a:t> </a:t>
            </a:r>
            <a:r>
              <a:rPr sz="800">
                <a:solidFill>
                  <a:srgbClr val="383838"/>
                </a:solidFill>
                <a:latin typeface="맑은 고딕"/>
                <a:cs typeface="맑은 고딕"/>
              </a:rPr>
              <a:t>정부</a:t>
            </a:r>
            <a:r>
              <a:rPr sz="800" spc="-114">
                <a:solidFill>
                  <a:srgbClr val="383838"/>
                </a:solidFill>
                <a:latin typeface="맑은 고딕"/>
                <a:cs typeface="맑은 고딕"/>
              </a:rPr>
              <a:t> </a:t>
            </a:r>
            <a:r>
              <a:rPr sz="800">
                <a:solidFill>
                  <a:srgbClr val="383838"/>
                </a:solidFill>
                <a:latin typeface="Calibri"/>
                <a:cs typeface="Calibri"/>
              </a:rPr>
              <a:t>:</a:t>
            </a:r>
            <a:r>
              <a:rPr sz="800" spc="-2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800" spc="-10">
                <a:solidFill>
                  <a:srgbClr val="383838"/>
                </a:solidFill>
                <a:latin typeface="Calibri"/>
                <a:cs typeface="Calibri"/>
              </a:rPr>
              <a:t>datosabiertos.gob.mx</a:t>
            </a:r>
            <a:endParaRPr sz="800">
              <a:latin typeface="Calibri"/>
              <a:cs typeface="Calibri"/>
            </a:endParaRPr>
          </a:p>
          <a:p>
            <a:pPr marL="64769" indent="-52069">
              <a:lnSpc>
                <a:spcPts val="955"/>
              </a:lnSpc>
              <a:buChar char="-"/>
              <a:tabLst>
                <a:tab pos="64769" algn="l"/>
              </a:tabLst>
            </a:pPr>
            <a:r>
              <a:rPr sz="800">
                <a:solidFill>
                  <a:srgbClr val="383838"/>
                </a:solidFill>
                <a:latin typeface="Calibri"/>
                <a:cs typeface="Calibri"/>
              </a:rPr>
              <a:t>[EU]</a:t>
            </a:r>
            <a:r>
              <a:rPr sz="800" spc="-1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800">
                <a:solidFill>
                  <a:srgbClr val="383838"/>
                </a:solidFill>
                <a:latin typeface="Calibri"/>
                <a:cs typeface="Calibri"/>
              </a:rPr>
              <a:t>EU</a:t>
            </a:r>
            <a:r>
              <a:rPr sz="800" spc="-25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800">
                <a:solidFill>
                  <a:srgbClr val="383838"/>
                </a:solidFill>
                <a:latin typeface="Calibri"/>
                <a:cs typeface="Calibri"/>
              </a:rPr>
              <a:t>:</a:t>
            </a:r>
            <a:r>
              <a:rPr sz="800" spc="5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800" spc="-10">
                <a:solidFill>
                  <a:srgbClr val="383838"/>
                </a:solidFill>
                <a:latin typeface="Calibri"/>
                <a:cs typeface="Calibri"/>
              </a:rPr>
              <a:t>open-data.europa.eu</a:t>
            </a:r>
            <a:endParaRPr sz="800">
              <a:latin typeface="Calibri"/>
              <a:cs typeface="Calibri"/>
            </a:endParaRPr>
          </a:p>
          <a:p>
            <a:pPr marL="64769" indent="-52069">
              <a:lnSpc>
                <a:spcPct val="100000"/>
              </a:lnSpc>
              <a:spcBef>
                <a:spcPts val="10"/>
              </a:spcBef>
              <a:buChar char="-"/>
              <a:tabLst>
                <a:tab pos="64769" algn="l"/>
              </a:tabLst>
            </a:pPr>
            <a:r>
              <a:rPr sz="800">
                <a:solidFill>
                  <a:srgbClr val="383838"/>
                </a:solidFill>
                <a:latin typeface="Calibri"/>
                <a:cs typeface="Calibri"/>
              </a:rPr>
              <a:t>[US]</a:t>
            </a:r>
            <a:r>
              <a:rPr sz="800" spc="-1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800">
                <a:solidFill>
                  <a:srgbClr val="383838"/>
                </a:solidFill>
                <a:latin typeface="Calibri"/>
                <a:cs typeface="Calibri"/>
              </a:rPr>
              <a:t>API</a:t>
            </a:r>
            <a:r>
              <a:rPr sz="800" spc="-25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800">
                <a:solidFill>
                  <a:srgbClr val="383838"/>
                </a:solidFill>
                <a:latin typeface="맑은 고딕"/>
                <a:cs typeface="맑은 고딕"/>
              </a:rPr>
              <a:t>통합</a:t>
            </a:r>
            <a:r>
              <a:rPr sz="800" spc="-114">
                <a:solidFill>
                  <a:srgbClr val="383838"/>
                </a:solidFill>
                <a:latin typeface="맑은 고딕"/>
                <a:cs typeface="맑은 고딕"/>
              </a:rPr>
              <a:t> </a:t>
            </a:r>
            <a:r>
              <a:rPr sz="800">
                <a:solidFill>
                  <a:srgbClr val="383838"/>
                </a:solidFill>
                <a:latin typeface="Calibri"/>
                <a:cs typeface="Calibri"/>
              </a:rPr>
              <a:t>:</a:t>
            </a:r>
            <a:r>
              <a:rPr sz="800" spc="16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8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80"/>
              </a:rPr>
              <a:t>https://apidocs.data.world/</a:t>
            </a:r>
            <a:endParaRPr sz="800">
              <a:latin typeface="Calibri"/>
              <a:cs typeface="Calibri"/>
            </a:endParaRPr>
          </a:p>
          <a:p>
            <a:pPr marL="64769" indent="-52069">
              <a:lnSpc>
                <a:spcPct val="100000"/>
              </a:lnSpc>
              <a:buChar char="-"/>
              <a:tabLst>
                <a:tab pos="64769" algn="l"/>
              </a:tabLst>
            </a:pPr>
            <a:r>
              <a:rPr sz="800">
                <a:solidFill>
                  <a:srgbClr val="383838"/>
                </a:solidFill>
                <a:latin typeface="Calibri"/>
                <a:cs typeface="Calibri"/>
              </a:rPr>
              <a:t>[US]</a:t>
            </a:r>
            <a:r>
              <a:rPr sz="800" spc="-1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800">
                <a:solidFill>
                  <a:srgbClr val="383838"/>
                </a:solidFill>
                <a:latin typeface="맑은 고딕"/>
                <a:cs typeface="맑은 고딕"/>
              </a:rPr>
              <a:t>데이터포털</a:t>
            </a:r>
            <a:r>
              <a:rPr sz="800" spc="-140">
                <a:solidFill>
                  <a:srgbClr val="383838"/>
                </a:solidFill>
                <a:latin typeface="맑은 고딕"/>
                <a:cs typeface="맑은 고딕"/>
              </a:rPr>
              <a:t> </a:t>
            </a:r>
            <a:r>
              <a:rPr sz="800">
                <a:solidFill>
                  <a:srgbClr val="383838"/>
                </a:solidFill>
                <a:latin typeface="Calibri"/>
                <a:cs typeface="Calibri"/>
              </a:rPr>
              <a:t>:</a:t>
            </a:r>
            <a:r>
              <a:rPr sz="800" spc="16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8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81"/>
              </a:rPr>
              <a:t>https://datahub.io/search</a:t>
            </a:r>
            <a:endParaRPr sz="800">
              <a:latin typeface="Calibri"/>
              <a:cs typeface="Calibri"/>
            </a:endParaRPr>
          </a:p>
          <a:p>
            <a:pPr marL="64769" indent="-52069">
              <a:lnSpc>
                <a:spcPct val="100000"/>
              </a:lnSpc>
              <a:buChar char="-"/>
              <a:tabLst>
                <a:tab pos="64769" algn="l"/>
              </a:tabLst>
            </a:pPr>
            <a:r>
              <a:rPr sz="800">
                <a:solidFill>
                  <a:srgbClr val="383838"/>
                </a:solidFill>
                <a:latin typeface="Calibri"/>
                <a:cs typeface="Calibri"/>
              </a:rPr>
              <a:t>[US]</a:t>
            </a:r>
            <a:r>
              <a:rPr sz="800" spc="105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800">
                <a:solidFill>
                  <a:srgbClr val="383838"/>
                </a:solidFill>
                <a:latin typeface="맑은 고딕"/>
                <a:cs typeface="맑은 고딕"/>
              </a:rPr>
              <a:t>트위터</a:t>
            </a:r>
            <a:r>
              <a:rPr sz="800" spc="-30">
                <a:solidFill>
                  <a:srgbClr val="383838"/>
                </a:solidFill>
                <a:latin typeface="맑은 고딕"/>
                <a:cs typeface="맑은 고딕"/>
              </a:rPr>
              <a:t> </a:t>
            </a:r>
            <a:r>
              <a:rPr sz="800">
                <a:solidFill>
                  <a:srgbClr val="383838"/>
                </a:solidFill>
                <a:latin typeface="Calibri"/>
                <a:cs typeface="Calibri"/>
              </a:rPr>
              <a:t>:</a:t>
            </a:r>
            <a:r>
              <a:rPr sz="800" spc="38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8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82"/>
              </a:rPr>
              <a:t>https://developer.twitter.com/en/docs/tweets/search/api-reference/get-search-tweets</a:t>
            </a:r>
            <a:endParaRPr sz="800">
              <a:latin typeface="Calibri"/>
              <a:cs typeface="Calibri"/>
            </a:endParaRPr>
          </a:p>
          <a:p>
            <a:pPr marL="64769" indent="-52069">
              <a:lnSpc>
                <a:spcPct val="100000"/>
              </a:lnSpc>
              <a:buChar char="-"/>
              <a:tabLst>
                <a:tab pos="64769" algn="l"/>
              </a:tabLst>
            </a:pPr>
            <a:r>
              <a:rPr sz="800">
                <a:solidFill>
                  <a:srgbClr val="383838"/>
                </a:solidFill>
                <a:latin typeface="Calibri"/>
                <a:cs typeface="Calibri"/>
              </a:rPr>
              <a:t>[IN]</a:t>
            </a:r>
            <a:r>
              <a:rPr sz="800" spc="-1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800" spc="-10">
                <a:solidFill>
                  <a:srgbClr val="383838"/>
                </a:solidFill>
                <a:latin typeface="맑은 고딕"/>
                <a:cs typeface="맑은 고딕"/>
              </a:rPr>
              <a:t>인도정부</a:t>
            </a:r>
            <a:r>
              <a:rPr sz="800" spc="-125">
                <a:solidFill>
                  <a:srgbClr val="383838"/>
                </a:solidFill>
                <a:latin typeface="맑은 고딕"/>
                <a:cs typeface="맑은 고딕"/>
              </a:rPr>
              <a:t> </a:t>
            </a:r>
            <a:r>
              <a:rPr sz="800">
                <a:solidFill>
                  <a:srgbClr val="383838"/>
                </a:solidFill>
                <a:latin typeface="Calibri"/>
                <a:cs typeface="Calibri"/>
              </a:rPr>
              <a:t>:</a:t>
            </a:r>
            <a:r>
              <a:rPr sz="800" spc="17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8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83"/>
              </a:rPr>
              <a:t>https://data.gov.in/</a:t>
            </a:r>
            <a:endParaRPr sz="800">
              <a:latin typeface="Calibri"/>
              <a:cs typeface="Calibri"/>
            </a:endParaRPr>
          </a:p>
          <a:p>
            <a:pPr marL="64769" indent="-52069">
              <a:lnSpc>
                <a:spcPct val="100000"/>
              </a:lnSpc>
              <a:spcBef>
                <a:spcPts val="5"/>
              </a:spcBef>
              <a:buChar char="-"/>
              <a:tabLst>
                <a:tab pos="64769" algn="l"/>
              </a:tabLst>
            </a:pPr>
            <a:r>
              <a:rPr sz="800">
                <a:solidFill>
                  <a:srgbClr val="383838"/>
                </a:solidFill>
                <a:latin typeface="Calibri"/>
                <a:cs typeface="Calibri"/>
              </a:rPr>
              <a:t>[IN]</a:t>
            </a:r>
            <a:r>
              <a:rPr sz="800" spc="-2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800">
                <a:solidFill>
                  <a:srgbClr val="383838"/>
                </a:solidFill>
                <a:latin typeface="Calibri"/>
                <a:cs typeface="Calibri"/>
              </a:rPr>
              <a:t>api</a:t>
            </a:r>
            <a:r>
              <a:rPr sz="800" spc="-5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800">
                <a:solidFill>
                  <a:srgbClr val="383838"/>
                </a:solidFill>
                <a:latin typeface="맑은 고딕"/>
                <a:cs typeface="맑은 고딕"/>
              </a:rPr>
              <a:t>종합몰</a:t>
            </a:r>
            <a:r>
              <a:rPr sz="800" spc="-114">
                <a:solidFill>
                  <a:srgbClr val="383838"/>
                </a:solidFill>
                <a:latin typeface="맑은 고딕"/>
                <a:cs typeface="맑은 고딕"/>
              </a:rPr>
              <a:t> </a:t>
            </a:r>
            <a:r>
              <a:rPr sz="800">
                <a:solidFill>
                  <a:srgbClr val="383838"/>
                </a:solidFill>
                <a:latin typeface="Calibri"/>
                <a:cs typeface="Calibri"/>
              </a:rPr>
              <a:t>:</a:t>
            </a:r>
            <a:r>
              <a:rPr sz="800" spc="15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8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84"/>
              </a:rPr>
              <a:t>https://rapidapi.com/</a:t>
            </a:r>
            <a:endParaRPr sz="800">
              <a:latin typeface="Calibri"/>
              <a:cs typeface="Calibri"/>
            </a:endParaRPr>
          </a:p>
          <a:p>
            <a:pPr marL="64769" indent="-52069">
              <a:lnSpc>
                <a:spcPct val="100000"/>
              </a:lnSpc>
              <a:buFont typeface="Calibri"/>
              <a:buChar char="-"/>
              <a:tabLst>
                <a:tab pos="64769" algn="l"/>
              </a:tabLst>
            </a:pPr>
            <a:r>
              <a:rPr sz="800">
                <a:solidFill>
                  <a:srgbClr val="383838"/>
                </a:solidFill>
                <a:latin typeface="맑은 고딕"/>
                <a:cs typeface="맑은 고딕"/>
              </a:rPr>
              <a:t>해외뉴스</a:t>
            </a:r>
            <a:r>
              <a:rPr sz="800" spc="-114">
                <a:solidFill>
                  <a:srgbClr val="383838"/>
                </a:solidFill>
                <a:latin typeface="맑은 고딕"/>
                <a:cs typeface="맑은 고딕"/>
              </a:rPr>
              <a:t> </a:t>
            </a:r>
            <a:r>
              <a:rPr sz="800">
                <a:solidFill>
                  <a:srgbClr val="383838"/>
                </a:solidFill>
                <a:latin typeface="Calibri"/>
                <a:cs typeface="Calibri"/>
              </a:rPr>
              <a:t>:</a:t>
            </a:r>
            <a:r>
              <a:rPr sz="800" spc="16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8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85"/>
              </a:rPr>
              <a:t>http://eventregistry.org/</a:t>
            </a:r>
            <a:endParaRPr sz="800">
              <a:latin typeface="Calibri"/>
              <a:cs typeface="Calibri"/>
            </a:endParaRPr>
          </a:p>
          <a:p>
            <a:pPr marL="64769" indent="-52069">
              <a:lnSpc>
                <a:spcPct val="100000"/>
              </a:lnSpc>
              <a:buChar char="-"/>
              <a:tabLst>
                <a:tab pos="64769" algn="l"/>
              </a:tabLst>
            </a:pPr>
            <a:r>
              <a:rPr sz="800">
                <a:solidFill>
                  <a:srgbClr val="383838"/>
                </a:solidFill>
                <a:latin typeface="Calibri"/>
                <a:cs typeface="Calibri"/>
              </a:rPr>
              <a:t>[US]</a:t>
            </a:r>
            <a:r>
              <a:rPr sz="800" spc="-1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800">
                <a:solidFill>
                  <a:srgbClr val="383838"/>
                </a:solidFill>
                <a:latin typeface="맑은 고딕"/>
                <a:cs typeface="맑은 고딕"/>
              </a:rPr>
              <a:t>아마존</a:t>
            </a:r>
            <a:r>
              <a:rPr sz="800" spc="-130">
                <a:solidFill>
                  <a:srgbClr val="383838"/>
                </a:solidFill>
                <a:latin typeface="맑은 고딕"/>
                <a:cs typeface="맑은 고딕"/>
              </a:rPr>
              <a:t> </a:t>
            </a:r>
            <a:r>
              <a:rPr sz="800">
                <a:solidFill>
                  <a:srgbClr val="383838"/>
                </a:solidFill>
                <a:latin typeface="맑은 고딕"/>
                <a:cs typeface="맑은 고딕"/>
              </a:rPr>
              <a:t>탑셀러</a:t>
            </a:r>
            <a:r>
              <a:rPr sz="800" spc="-114">
                <a:solidFill>
                  <a:srgbClr val="383838"/>
                </a:solidFill>
                <a:latin typeface="맑은 고딕"/>
                <a:cs typeface="맑은 고딕"/>
              </a:rPr>
              <a:t> </a:t>
            </a:r>
            <a:r>
              <a:rPr sz="800">
                <a:solidFill>
                  <a:srgbClr val="383838"/>
                </a:solidFill>
                <a:latin typeface="Calibri"/>
                <a:cs typeface="Calibri"/>
              </a:rPr>
              <a:t>:</a:t>
            </a:r>
            <a:r>
              <a:rPr sz="800" spc="16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8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86"/>
              </a:rPr>
              <a:t>https://docs.aws.amazon.com/AWSECommerceService/latest/DG/TopSellers.htm</a:t>
            </a:r>
            <a:r>
              <a:rPr sz="800" u="none" spc="-10">
                <a:solidFill>
                  <a:srgbClr val="0462C1"/>
                </a:solidFill>
                <a:latin typeface="Calibri"/>
                <a:cs typeface="Calibri"/>
                <a:hlinkClick r:id="rId86"/>
              </a:rPr>
              <a:t>l</a:t>
            </a:r>
            <a:endParaRPr sz="800">
              <a:latin typeface="Calibri"/>
              <a:cs typeface="Calibri"/>
            </a:endParaRPr>
          </a:p>
          <a:p>
            <a:pPr marL="64135" marR="5080" indent="-52069">
              <a:lnSpc>
                <a:spcPts val="950"/>
              </a:lnSpc>
              <a:spcBef>
                <a:spcPts val="40"/>
              </a:spcBef>
              <a:buChar char="-"/>
              <a:tabLst>
                <a:tab pos="144780" algn="l"/>
              </a:tabLst>
            </a:pPr>
            <a:r>
              <a:rPr sz="800">
                <a:solidFill>
                  <a:srgbClr val="383838"/>
                </a:solidFill>
                <a:latin typeface="Calibri"/>
                <a:cs typeface="Calibri"/>
              </a:rPr>
              <a:t>[US]</a:t>
            </a:r>
            <a:r>
              <a:rPr sz="800" spc="-1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800">
                <a:solidFill>
                  <a:srgbClr val="383838"/>
                </a:solidFill>
                <a:latin typeface="맑은 고딕"/>
                <a:cs typeface="맑은 고딕"/>
              </a:rPr>
              <a:t>아마존</a:t>
            </a:r>
            <a:r>
              <a:rPr sz="800" spc="-130">
                <a:solidFill>
                  <a:srgbClr val="383838"/>
                </a:solidFill>
                <a:latin typeface="맑은 고딕"/>
                <a:cs typeface="맑은 고딕"/>
              </a:rPr>
              <a:t> </a:t>
            </a:r>
            <a:r>
              <a:rPr sz="800">
                <a:solidFill>
                  <a:srgbClr val="383838"/>
                </a:solidFill>
                <a:latin typeface="맑은 고딕"/>
                <a:cs typeface="맑은 고딕"/>
              </a:rPr>
              <a:t>상품검색</a:t>
            </a:r>
            <a:r>
              <a:rPr sz="800" spc="-130">
                <a:solidFill>
                  <a:srgbClr val="383838"/>
                </a:solidFill>
                <a:latin typeface="맑은 고딕"/>
                <a:cs typeface="맑은 고딕"/>
              </a:rPr>
              <a:t> </a:t>
            </a:r>
            <a:r>
              <a:rPr sz="800">
                <a:solidFill>
                  <a:srgbClr val="383838"/>
                </a:solidFill>
                <a:latin typeface="Calibri"/>
                <a:cs typeface="Calibri"/>
              </a:rPr>
              <a:t>: </a:t>
            </a:r>
            <a:r>
              <a:rPr sz="8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87"/>
              </a:rPr>
              <a:t>https://docs.aws.amazon.com/AWSECommerceService/latest/DG/ItemSearch.htm</a:t>
            </a:r>
            <a:r>
              <a:rPr sz="800" u="none" spc="-10">
                <a:solidFill>
                  <a:srgbClr val="0462C1"/>
                </a:solidFill>
                <a:latin typeface="Calibri"/>
                <a:cs typeface="Calibri"/>
                <a:hlinkClick r:id="rId87"/>
              </a:rPr>
              <a:t>l</a:t>
            </a:r>
            <a:r>
              <a:rPr sz="800" u="none" spc="500">
                <a:solidFill>
                  <a:srgbClr val="0462C1"/>
                </a:solidFill>
                <a:latin typeface="Calibri"/>
                <a:cs typeface="Calibri"/>
              </a:rPr>
              <a:t> 	</a:t>
            </a:r>
            <a:r>
              <a:rPr sz="8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88"/>
              </a:rPr>
              <a:t>https://docs.aws.amazon.com/ko_kr/AWSECommerceService/latest/DG/FindingItems.htm</a:t>
            </a:r>
            <a:r>
              <a:rPr sz="800" u="none" spc="-10">
                <a:solidFill>
                  <a:srgbClr val="0462C1"/>
                </a:solidFill>
                <a:latin typeface="Calibri"/>
                <a:cs typeface="Calibri"/>
                <a:hlinkClick r:id="rId88"/>
              </a:rPr>
              <a:t>l</a:t>
            </a:r>
            <a:endParaRPr sz="800">
              <a:latin typeface="Calibri"/>
              <a:cs typeface="Calibri"/>
            </a:endParaRPr>
          </a:p>
          <a:p>
            <a:pPr marL="64769" indent="-52069">
              <a:lnSpc>
                <a:spcPts val="930"/>
              </a:lnSpc>
              <a:buChar char="-"/>
              <a:tabLst>
                <a:tab pos="64769" algn="l"/>
              </a:tabLst>
            </a:pPr>
            <a:r>
              <a:rPr sz="800">
                <a:solidFill>
                  <a:srgbClr val="383838"/>
                </a:solidFill>
                <a:latin typeface="Calibri"/>
                <a:cs typeface="Calibri"/>
              </a:rPr>
              <a:t>[US]</a:t>
            </a:r>
            <a:r>
              <a:rPr sz="800" spc="-15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800">
                <a:solidFill>
                  <a:srgbClr val="383838"/>
                </a:solidFill>
                <a:latin typeface="Calibri"/>
                <a:cs typeface="Calibri"/>
              </a:rPr>
              <a:t>API</a:t>
            </a:r>
            <a:r>
              <a:rPr sz="800" spc="-3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800">
                <a:solidFill>
                  <a:srgbClr val="383838"/>
                </a:solidFill>
                <a:latin typeface="Calibri"/>
                <a:cs typeface="Calibri"/>
              </a:rPr>
              <a:t>mashup</a:t>
            </a:r>
            <a:r>
              <a:rPr sz="800" spc="-15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800">
                <a:solidFill>
                  <a:srgbClr val="383838"/>
                </a:solidFill>
                <a:latin typeface="Calibri"/>
                <a:cs typeface="Calibri"/>
              </a:rPr>
              <a:t>:</a:t>
            </a:r>
            <a:r>
              <a:rPr sz="800" spc="145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8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89"/>
              </a:rPr>
              <a:t>https://www.programmableweb.com/</a:t>
            </a:r>
            <a:endParaRPr sz="800">
              <a:latin typeface="Calibri"/>
              <a:cs typeface="Calibri"/>
            </a:endParaRPr>
          </a:p>
          <a:p>
            <a:pPr marL="12700" marR="208915" indent="52069">
              <a:lnSpc>
                <a:spcPct val="100000"/>
              </a:lnSpc>
              <a:buChar char="-"/>
              <a:tabLst>
                <a:tab pos="64769" algn="l"/>
              </a:tabLst>
            </a:pPr>
            <a:r>
              <a:rPr sz="800">
                <a:solidFill>
                  <a:srgbClr val="383838"/>
                </a:solidFill>
                <a:latin typeface="Calibri"/>
                <a:cs typeface="Calibri"/>
              </a:rPr>
              <a:t>[US]</a:t>
            </a:r>
            <a:r>
              <a:rPr sz="800" spc="114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800">
                <a:solidFill>
                  <a:srgbClr val="383838"/>
                </a:solidFill>
                <a:latin typeface="Calibri"/>
                <a:cs typeface="Calibri"/>
              </a:rPr>
              <a:t>Alexa</a:t>
            </a:r>
            <a:r>
              <a:rPr sz="800" spc="13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800">
                <a:solidFill>
                  <a:srgbClr val="383838"/>
                </a:solidFill>
                <a:latin typeface="Calibri"/>
                <a:cs typeface="Calibri"/>
              </a:rPr>
              <a:t>:</a:t>
            </a:r>
            <a:r>
              <a:rPr sz="800" spc="12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8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90"/>
              </a:rPr>
              <a:t>https://aws.amazon.com/marketplace/pp/Amazon-Web-Services-Alexa-Web-Information-</a:t>
            </a:r>
            <a:r>
              <a:rPr sz="800" u="none" spc="500">
                <a:solidFill>
                  <a:srgbClr val="0462C1"/>
                </a:solidFill>
                <a:latin typeface="Calibri"/>
                <a:cs typeface="Calibri"/>
              </a:rPr>
              <a:t> </a:t>
            </a:r>
            <a:r>
              <a:rPr sz="8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90"/>
              </a:rPr>
              <a:t>Service/B07Q71HJ3H</a:t>
            </a:r>
            <a:endParaRPr sz="800">
              <a:latin typeface="Calibri"/>
              <a:cs typeface="Calibri"/>
            </a:endParaRPr>
          </a:p>
          <a:p>
            <a:pPr marL="64769" indent="-52069">
              <a:lnSpc>
                <a:spcPct val="100000"/>
              </a:lnSpc>
              <a:buChar char="-"/>
              <a:tabLst>
                <a:tab pos="64769" algn="l"/>
              </a:tabLst>
            </a:pPr>
            <a:r>
              <a:rPr sz="800">
                <a:solidFill>
                  <a:srgbClr val="383838"/>
                </a:solidFill>
                <a:latin typeface="Calibri"/>
                <a:cs typeface="Calibri"/>
              </a:rPr>
              <a:t>[US]</a:t>
            </a:r>
            <a:r>
              <a:rPr sz="800" spc="-15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800">
                <a:solidFill>
                  <a:srgbClr val="383838"/>
                </a:solidFill>
                <a:latin typeface="Calibri"/>
                <a:cs typeface="Calibri"/>
              </a:rPr>
              <a:t>ahrefs</a:t>
            </a:r>
            <a:r>
              <a:rPr sz="800" spc="-1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800">
                <a:solidFill>
                  <a:srgbClr val="383838"/>
                </a:solidFill>
                <a:latin typeface="Calibri"/>
                <a:cs typeface="Calibri"/>
              </a:rPr>
              <a:t>:</a:t>
            </a:r>
            <a:r>
              <a:rPr sz="800" spc="145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800" u="sng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91"/>
              </a:rPr>
              <a:t>https://ahrefs.com/api/documentation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233045">
              <a:lnSpc>
                <a:spcPct val="100000"/>
              </a:lnSpc>
              <a:spcBef>
                <a:spcPts val="225"/>
              </a:spcBef>
            </a:pPr>
            <a:fld id="{81D60167-4931-47E6-BA6A-407CBD079E47}" type="slidenum">
              <a:rPr lang="en-US" altLang="ko-KR" spc="-50" smtClean="0"/>
              <a:t>1</a:t>
            </a:fld>
            <a:endParaRPr lang="en-US" altLang="ko-KR" spc="-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1034</TotalTime>
  <Words>1480</Words>
  <Application>Microsoft Office PowerPoint</Application>
  <PresentationFormat>와이드스크린</PresentationFormat>
  <Paragraphs>99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Arial</vt:lpstr>
      <vt:lpstr>Calibri</vt:lpstr>
      <vt:lpstr>Office Theme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주용 허</dc:creator>
  <cp:lastModifiedBy>901-00</cp:lastModifiedBy>
  <cp:revision>70</cp:revision>
  <dcterms:created xsi:type="dcterms:W3CDTF">2025-04-01T07:34:13Z</dcterms:created>
  <dcterms:modified xsi:type="dcterms:W3CDTF">2025-12-11T01:05:33Z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2025-03-28T00:00:00Z</vt:filetime>
  </property>
  <property fmtid="{D5CDD505-2E9C-101B-9397-08002B2CF9AE}" pid="3" name="Creator">
    <vt:lpwstr>Microsoft® PowerPoint® Microsoft 365용</vt:lpwstr>
  </property>
  <property fmtid="{D5CDD505-2E9C-101B-9397-08002B2CF9AE}" pid="4" name="LastSaved">
    <vt:filetime>2025-04-01T00:00:00Z</vt:filetime>
  </property>
  <property fmtid="{D5CDD505-2E9C-101B-9397-08002B2CF9AE}" pid="5" name="Producer">
    <vt:lpwstr>Microsoft® PowerPoint® Microsoft 365용</vt:lpwstr>
  </property>
</Properties>
</file>